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0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9.svg" ContentType="image/svg+xml"/>
  <Override PartName="/ppt/media/image3.svg" ContentType="image/svg+xml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8288000" cy="10287000"/>
  <p:notesSz cx="6858000" cy="9144000"/>
  <p:embeddedFontLst>
    <p:embeddedFont>
      <p:font typeface="Museo Moderno"/>
      <p:regular r:id="rId23"/>
    </p:embeddedFont>
    <p:embeddedFont>
      <p:font typeface="ABeeZee" panose="02000000000000000000"/>
      <p:regular r:id="rId24"/>
    </p:embeddedFont>
    <p:embeddedFont>
      <p:font typeface="ABeeZee Bold" panose="02000000000000000000"/>
      <p:regular r:id="rId25"/>
      <p:bold r:id="rId26"/>
    </p:embeddedFont>
    <p:embeddedFont>
      <p:font typeface="Museo Moderno Medium"/>
      <p:regular r:id="rId27"/>
    </p:embeddedFont>
    <p:embeddedFont>
      <p:font typeface="Calibri" panose="020F050202020403020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font" Target="fonts/font9.fntdata"/><Relationship Id="rId30" Type="http://schemas.openxmlformats.org/officeDocument/2006/relationships/font" Target="fonts/font8.fntdata"/><Relationship Id="rId3" Type="http://schemas.openxmlformats.org/officeDocument/2006/relationships/slide" Target="slides/slide1.xml"/><Relationship Id="rId29" Type="http://schemas.openxmlformats.org/officeDocument/2006/relationships/font" Target="fonts/font7.fntdata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jpeg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svg"/><Relationship Id="rId8" Type="http://schemas.openxmlformats.org/officeDocument/2006/relationships/image" Target="../media/image16.png"/><Relationship Id="rId7" Type="http://schemas.openxmlformats.org/officeDocument/2006/relationships/image" Target="../media/image15.svg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21.svg"/><Relationship Id="rId12" Type="http://schemas.openxmlformats.org/officeDocument/2006/relationships/image" Target="../media/image20.png"/><Relationship Id="rId11" Type="http://schemas.openxmlformats.org/officeDocument/2006/relationships/image" Target="../media/image19.svg"/><Relationship Id="rId10" Type="http://schemas.openxmlformats.org/officeDocument/2006/relationships/image" Target="../media/image18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2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3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4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6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image" Target="../media/image2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B0C23">
                <a:alpha val="42745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816593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5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9622979" y="2247671"/>
            <a:ext cx="783580" cy="780731"/>
          </a:xfrm>
          <a:custGeom>
            <a:avLst/>
            <a:gdLst/>
            <a:ahLst/>
            <a:cxnLst/>
            <a:rect l="l" t="t" r="r" b="b"/>
            <a:pathLst>
              <a:path w="783580" h="780731">
                <a:moveTo>
                  <a:pt x="0" y="0"/>
                </a:moveTo>
                <a:lnTo>
                  <a:pt x="783580" y="0"/>
                </a:lnTo>
                <a:lnTo>
                  <a:pt x="783580" y="780731"/>
                </a:lnTo>
                <a:lnTo>
                  <a:pt x="0" y="780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28015" y="2140270"/>
            <a:ext cx="9778560" cy="110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15"/>
              </a:lnSpc>
            </a:pPr>
            <a:r>
              <a:rPr lang="en-US" sz="9790">
                <a:solidFill>
                  <a:srgbClr val="4792FF"/>
                </a:solidFill>
                <a:latin typeface="Museo Moderno"/>
                <a:ea typeface="Museo Moderno"/>
                <a:cs typeface="Museo Moderno"/>
                <a:sym typeface="Museo Moderno"/>
              </a:rPr>
              <a:t>Pro-File viewer</a:t>
            </a:r>
            <a:endParaRPr lang="en-US" sz="9790">
              <a:solidFill>
                <a:srgbClr val="4792FF"/>
              </a:solidFill>
              <a:latin typeface="Museo Moderno"/>
              <a:ea typeface="Museo Moderno"/>
              <a:cs typeface="Museo Moderno"/>
              <a:sym typeface="Museo Moderno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92432" y="3733238"/>
            <a:ext cx="14908443" cy="756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6190">
                <a:solidFill>
                  <a:srgbClr val="FFFFFF"/>
                </a:solidFill>
                <a:latin typeface="Museo Moderno"/>
                <a:ea typeface="Museo Moderno"/>
                <a:cs typeface="Museo Moderno"/>
                <a:sym typeface="Museo Moderno"/>
              </a:rPr>
              <a:t>File Metadata Analyzer</a:t>
            </a:r>
            <a:endParaRPr lang="en-US" sz="6190">
              <a:solidFill>
                <a:srgbClr val="FFFFFF"/>
              </a:solidFill>
              <a:latin typeface="Museo Moderno"/>
              <a:ea typeface="Museo Moderno"/>
              <a:cs typeface="Museo Moderno"/>
              <a:sym typeface="Museo Moderno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896511" y="5143500"/>
            <a:ext cx="9910749" cy="3845570"/>
            <a:chOff x="0" y="0"/>
            <a:chExt cx="1707455" cy="66252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07455" cy="662527"/>
            </a:xfrm>
            <a:custGeom>
              <a:avLst/>
              <a:gdLst/>
              <a:ahLst/>
              <a:cxnLst/>
              <a:rect l="l" t="t" r="r" b="b"/>
              <a:pathLst>
                <a:path w="1707455" h="662527">
                  <a:moveTo>
                    <a:pt x="51557" y="0"/>
                  </a:moveTo>
                  <a:lnTo>
                    <a:pt x="1655898" y="0"/>
                  </a:lnTo>
                  <a:cubicBezTo>
                    <a:pt x="1669572" y="0"/>
                    <a:pt x="1682686" y="5432"/>
                    <a:pt x="1692354" y="15101"/>
                  </a:cubicBezTo>
                  <a:cubicBezTo>
                    <a:pt x="1702023" y="24769"/>
                    <a:pt x="1707455" y="37883"/>
                    <a:pt x="1707455" y="51557"/>
                  </a:cubicBezTo>
                  <a:lnTo>
                    <a:pt x="1707455" y="610970"/>
                  </a:lnTo>
                  <a:cubicBezTo>
                    <a:pt x="1707455" y="624644"/>
                    <a:pt x="1702023" y="637757"/>
                    <a:pt x="1692354" y="647426"/>
                  </a:cubicBezTo>
                  <a:cubicBezTo>
                    <a:pt x="1682686" y="657095"/>
                    <a:pt x="1669572" y="662527"/>
                    <a:pt x="1655898" y="662527"/>
                  </a:cubicBezTo>
                  <a:lnTo>
                    <a:pt x="51557" y="662527"/>
                  </a:lnTo>
                  <a:cubicBezTo>
                    <a:pt x="37883" y="662527"/>
                    <a:pt x="24769" y="657095"/>
                    <a:pt x="15101" y="647426"/>
                  </a:cubicBezTo>
                  <a:cubicBezTo>
                    <a:pt x="5432" y="637757"/>
                    <a:pt x="0" y="624644"/>
                    <a:pt x="0" y="610970"/>
                  </a:cubicBezTo>
                  <a:lnTo>
                    <a:pt x="0" y="51557"/>
                  </a:lnTo>
                  <a:cubicBezTo>
                    <a:pt x="0" y="37883"/>
                    <a:pt x="5432" y="24769"/>
                    <a:pt x="15101" y="15101"/>
                  </a:cubicBezTo>
                  <a:cubicBezTo>
                    <a:pt x="24769" y="5432"/>
                    <a:pt x="37883" y="0"/>
                    <a:pt x="51557" y="0"/>
                  </a:cubicBezTo>
                  <a:close/>
                </a:path>
              </a:pathLst>
            </a:custGeom>
            <a:solidFill>
              <a:srgbClr val="394B6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707455" cy="691102"/>
            </a:xfrm>
            <a:prstGeom prst="rect">
              <a:avLst/>
            </a:prstGeom>
          </p:spPr>
          <p:txBody>
            <a:bodyPr lIns="77660" tIns="77660" rIns="77660" bIns="77660" rtlCol="0" anchor="ctr"/>
            <a:lstStyle/>
            <a:p>
              <a:pPr algn="ctr">
                <a:lnSpc>
                  <a:spcPts val="2445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39179" y="6833009"/>
            <a:ext cx="8425413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3045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rPr>
              <a:t>Supervisor:  </a:t>
            </a:r>
            <a:r>
              <a:rPr lang="en-US" sz="3045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rPr>
              <a:t>Mr. ZubairUddin Shaikh</a:t>
            </a:r>
            <a:endParaRPr lang="en-US" sz="3045">
              <a:solidFill>
                <a:srgbClr val="FFFFFF"/>
              </a:solidFill>
              <a:latin typeface="ABeeZee" panose="02000000000000000000"/>
              <a:ea typeface="ABeeZee" panose="02000000000000000000"/>
              <a:cs typeface="ABeeZee" panose="02000000000000000000"/>
              <a:sym typeface="ABeeZee" panose="020000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429853" y="5417657"/>
            <a:ext cx="8976254" cy="1087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0"/>
              </a:lnSpc>
            </a:pPr>
          </a:p>
          <a:p>
            <a:pPr algn="l">
              <a:lnSpc>
                <a:spcPts val="4260"/>
              </a:lnSpc>
            </a:pPr>
            <a:r>
              <a:rPr lang="en-US" sz="3550">
                <a:solidFill>
                  <a:srgbClr val="FFFFFF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rPr>
              <a:t>SINDH MADARESSATUL ISLAM UNIVERSITY </a:t>
            </a:r>
            <a:endParaRPr lang="en-US" sz="3550">
              <a:solidFill>
                <a:srgbClr val="FFFFFF"/>
              </a:solidFill>
              <a:latin typeface="ABeeZee Bold" panose="02000000000000000000"/>
              <a:ea typeface="ABeeZee Bold" panose="02000000000000000000"/>
              <a:cs typeface="ABeeZee Bold" panose="02000000000000000000"/>
              <a:sym typeface="ABeeZee Bold" panose="020000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B0C23">
                <a:alpha val="42745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3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5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1747541" y="1540265"/>
            <a:ext cx="14174715" cy="7164630"/>
            <a:chOff x="0" y="0"/>
            <a:chExt cx="1707455" cy="86303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07455" cy="863036"/>
            </a:xfrm>
            <a:custGeom>
              <a:avLst/>
              <a:gdLst/>
              <a:ahLst/>
              <a:cxnLst/>
              <a:rect l="l" t="t" r="r" b="b"/>
              <a:pathLst>
                <a:path w="1707455" h="863036">
                  <a:moveTo>
                    <a:pt x="36048" y="0"/>
                  </a:moveTo>
                  <a:lnTo>
                    <a:pt x="1671407" y="0"/>
                  </a:lnTo>
                  <a:cubicBezTo>
                    <a:pt x="1680968" y="0"/>
                    <a:pt x="1690137" y="3798"/>
                    <a:pt x="1696897" y="10558"/>
                  </a:cubicBezTo>
                  <a:cubicBezTo>
                    <a:pt x="1703657" y="17318"/>
                    <a:pt x="1707455" y="26487"/>
                    <a:pt x="1707455" y="36048"/>
                  </a:cubicBezTo>
                  <a:lnTo>
                    <a:pt x="1707455" y="826988"/>
                  </a:lnTo>
                  <a:cubicBezTo>
                    <a:pt x="1707455" y="836548"/>
                    <a:pt x="1703657" y="845717"/>
                    <a:pt x="1696897" y="852477"/>
                  </a:cubicBezTo>
                  <a:cubicBezTo>
                    <a:pt x="1690137" y="859238"/>
                    <a:pt x="1680968" y="863036"/>
                    <a:pt x="1671407" y="863036"/>
                  </a:cubicBezTo>
                  <a:lnTo>
                    <a:pt x="36048" y="863036"/>
                  </a:lnTo>
                  <a:cubicBezTo>
                    <a:pt x="26487" y="863036"/>
                    <a:pt x="17318" y="859238"/>
                    <a:pt x="10558" y="852477"/>
                  </a:cubicBezTo>
                  <a:cubicBezTo>
                    <a:pt x="3798" y="845717"/>
                    <a:pt x="0" y="836548"/>
                    <a:pt x="0" y="826988"/>
                  </a:cubicBezTo>
                  <a:lnTo>
                    <a:pt x="0" y="36048"/>
                  </a:lnTo>
                  <a:cubicBezTo>
                    <a:pt x="0" y="26487"/>
                    <a:pt x="3798" y="17318"/>
                    <a:pt x="10558" y="10558"/>
                  </a:cubicBezTo>
                  <a:cubicBezTo>
                    <a:pt x="17318" y="3798"/>
                    <a:pt x="26487" y="0"/>
                    <a:pt x="36048" y="0"/>
                  </a:cubicBezTo>
                  <a:close/>
                </a:path>
              </a:pathLst>
            </a:custGeom>
            <a:solidFill>
              <a:srgbClr val="394B6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707455" cy="891611"/>
            </a:xfrm>
            <a:prstGeom prst="rect">
              <a:avLst/>
            </a:prstGeom>
          </p:spPr>
          <p:txBody>
            <a:bodyPr lIns="111071" tIns="111071" rIns="111071" bIns="111071" rtlCol="0" anchor="ctr"/>
            <a:lstStyle/>
            <a:p>
              <a:pPr algn="ctr">
                <a:lnSpc>
                  <a:spcPts val="2445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809732" y="4333320"/>
            <a:ext cx="12050332" cy="230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5"/>
              </a:lnSpc>
            </a:pPr>
            <a:r>
              <a:rPr lang="en-US" sz="3800">
                <a:solidFill>
                  <a:srgbClr val="FFFFFF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rPr>
              <a:t>Fahad Ahmed                                  (BSE-21F-090)</a:t>
            </a:r>
            <a:endParaRPr lang="en-US" sz="3800">
              <a:solidFill>
                <a:srgbClr val="FFFFFF"/>
              </a:solidFill>
              <a:latin typeface="ABeeZee Bold" panose="02000000000000000000"/>
              <a:ea typeface="ABeeZee Bold" panose="02000000000000000000"/>
              <a:cs typeface="ABeeZee Bold" panose="02000000000000000000"/>
              <a:sym typeface="ABeeZee Bold" panose="02000000000000000000"/>
            </a:endParaRPr>
          </a:p>
          <a:p>
            <a:pPr algn="l">
              <a:lnSpc>
                <a:spcPts val="4555"/>
              </a:lnSpc>
            </a:pPr>
            <a:r>
              <a:rPr lang="en-US" sz="3800">
                <a:solidFill>
                  <a:srgbClr val="FFFFFF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rPr>
              <a:t>Muhammad Maaz                            (BSE-21F-094)</a:t>
            </a:r>
            <a:endParaRPr lang="en-US" sz="3800">
              <a:solidFill>
                <a:srgbClr val="FFFFFF"/>
              </a:solidFill>
              <a:latin typeface="ABeeZee Bold" panose="02000000000000000000"/>
              <a:ea typeface="ABeeZee Bold" panose="02000000000000000000"/>
              <a:cs typeface="ABeeZee Bold" panose="02000000000000000000"/>
              <a:sym typeface="ABeeZee Bold" panose="02000000000000000000"/>
            </a:endParaRPr>
          </a:p>
          <a:p>
            <a:pPr algn="l">
              <a:lnSpc>
                <a:spcPts val="4555"/>
              </a:lnSpc>
            </a:pPr>
            <a:r>
              <a:rPr lang="en-US" sz="3800">
                <a:solidFill>
                  <a:srgbClr val="FFFFFF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rPr>
              <a:t>Muhammad Siddiqui                        (BSE-21F-098)</a:t>
            </a:r>
            <a:endParaRPr lang="en-US" sz="3800">
              <a:solidFill>
                <a:srgbClr val="FFFFFF"/>
              </a:solidFill>
              <a:latin typeface="ABeeZee Bold" panose="02000000000000000000"/>
              <a:ea typeface="ABeeZee Bold" panose="02000000000000000000"/>
              <a:cs typeface="ABeeZee Bold" panose="02000000000000000000"/>
              <a:sym typeface="ABeeZee Bold" panose="02000000000000000000"/>
            </a:endParaRPr>
          </a:p>
          <a:p>
            <a:pPr algn="l">
              <a:lnSpc>
                <a:spcPts val="4555"/>
              </a:lnSpc>
            </a:pPr>
          </a:p>
        </p:txBody>
      </p:sp>
      <p:sp>
        <p:nvSpPr>
          <p:cNvPr id="9" name="TextBox 9"/>
          <p:cNvSpPr txBox="1"/>
          <p:nvPr/>
        </p:nvSpPr>
        <p:spPr>
          <a:xfrm>
            <a:off x="2812805" y="2958771"/>
            <a:ext cx="12047259" cy="780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95"/>
              </a:lnSpc>
            </a:pPr>
            <a:r>
              <a:rPr lang="en-US" sz="5080">
                <a:solidFill>
                  <a:srgbClr val="FFFFFF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rPr>
              <a:t>MetaTrackr – File Metadata Analyzer</a:t>
            </a:r>
            <a:endParaRPr lang="en-US" sz="5080">
              <a:solidFill>
                <a:srgbClr val="FFFFFF"/>
              </a:solidFill>
              <a:latin typeface="ABeeZee Bold" panose="02000000000000000000"/>
              <a:ea typeface="ABeeZee Bold" panose="02000000000000000000"/>
              <a:cs typeface="ABeeZee Bold" panose="02000000000000000000"/>
              <a:sym typeface="ABeeZee Bold" panose="020000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977918" y="-1100388"/>
            <a:ext cx="5452664" cy="5295900"/>
          </a:xfrm>
          <a:custGeom>
            <a:avLst/>
            <a:gdLst/>
            <a:ahLst/>
            <a:cxnLst/>
            <a:rect l="l" t="t" r="r" b="b"/>
            <a:pathLst>
              <a:path w="5452664" h="5295900">
                <a:moveTo>
                  <a:pt x="0" y="0"/>
                </a:moveTo>
                <a:lnTo>
                  <a:pt x="5452664" y="0"/>
                </a:lnTo>
                <a:lnTo>
                  <a:pt x="5452664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45145" y="2535029"/>
            <a:ext cx="8346715" cy="6532265"/>
          </a:xfrm>
          <a:custGeom>
            <a:avLst/>
            <a:gdLst/>
            <a:ahLst/>
            <a:cxnLst/>
            <a:rect l="l" t="t" r="r" b="b"/>
            <a:pathLst>
              <a:path w="8346715" h="6532265">
                <a:moveTo>
                  <a:pt x="0" y="0"/>
                </a:moveTo>
                <a:lnTo>
                  <a:pt x="8346715" y="0"/>
                </a:lnTo>
                <a:lnTo>
                  <a:pt x="8346715" y="6532265"/>
                </a:lnTo>
                <a:lnTo>
                  <a:pt x="0" y="65322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989" r="-54771"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9144000" y="2535029"/>
            <a:ext cx="13209833" cy="8384671"/>
            <a:chOff x="0" y="0"/>
            <a:chExt cx="17613111" cy="11179562"/>
          </a:xfrm>
        </p:grpSpPr>
        <p:sp>
          <p:nvSpPr>
            <p:cNvPr id="5" name="Freeform 5"/>
            <p:cNvSpPr/>
            <p:nvPr/>
          </p:nvSpPr>
          <p:spPr>
            <a:xfrm>
              <a:off x="10342892" y="4118362"/>
              <a:ext cx="7270219" cy="7061200"/>
            </a:xfrm>
            <a:custGeom>
              <a:avLst/>
              <a:gdLst/>
              <a:ahLst/>
              <a:cxnLst/>
              <a:rect l="l" t="t" r="r" b="b"/>
              <a:pathLst>
                <a:path w="7270219" h="7061200">
                  <a:moveTo>
                    <a:pt x="0" y="0"/>
                  </a:moveTo>
                  <a:lnTo>
                    <a:pt x="7270219" y="0"/>
                  </a:lnTo>
                  <a:lnTo>
                    <a:pt x="7270219" y="7061200"/>
                  </a:lnTo>
                  <a:lnTo>
                    <a:pt x="0" y="706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67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6" name="Group 6"/>
            <p:cNvGrpSpPr/>
            <p:nvPr/>
          </p:nvGrpSpPr>
          <p:grpSpPr>
            <a:xfrm rot="0">
              <a:off x="0" y="0"/>
              <a:ext cx="11475227" cy="8709686"/>
              <a:chOff x="0" y="0"/>
              <a:chExt cx="2324844" cy="176455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324844" cy="1764554"/>
              </a:xfrm>
              <a:custGeom>
                <a:avLst/>
                <a:gdLst/>
                <a:ahLst/>
                <a:cxnLst/>
                <a:rect l="l" t="t" r="r" b="b"/>
                <a:pathLst>
                  <a:path w="2324844" h="1764554">
                    <a:moveTo>
                      <a:pt x="0" y="0"/>
                    </a:moveTo>
                    <a:lnTo>
                      <a:pt x="2324844" y="0"/>
                    </a:lnTo>
                    <a:lnTo>
                      <a:pt x="2324844" y="1764554"/>
                    </a:lnTo>
                    <a:lnTo>
                      <a:pt x="0" y="1764554"/>
                    </a:lnTo>
                    <a:close/>
                  </a:path>
                </a:pathLst>
              </a:custGeom>
              <a:solidFill>
                <a:srgbClr val="2D3B44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2324844" cy="1793129"/>
              </a:xfrm>
              <a:prstGeom prst="rect">
                <a:avLst/>
              </a:prstGeom>
            </p:spPr>
            <p:txBody>
              <a:bodyPr lIns="54022" tIns="54022" rIns="54022" bIns="54022" rtlCol="0" anchor="ctr"/>
              <a:lstStyle/>
              <a:p>
                <a:pPr algn="ctr">
                  <a:lnSpc>
                    <a:spcPts val="2445"/>
                  </a:lnSpc>
                </a:pPr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83270" y="747695"/>
              <a:ext cx="11291957" cy="54684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760">
                  <a:solidFill>
                    <a:srgbClr val="FFFFFF"/>
                  </a:solidFill>
                  <a:latin typeface="ABeeZee" panose="02000000000000000000"/>
                  <a:ea typeface="ABeeZee" panose="02000000000000000000"/>
                  <a:cs typeface="ABeeZee" panose="02000000000000000000"/>
                  <a:sym typeface="ABeeZee" panose="02000000000000000000"/>
                </a:rPr>
                <a:t>It is a Python-based desktop application designed to help users view, analyze, sort, and export metadata of files within a selected folder. The application allows the user:</a:t>
              </a:r>
              <a:endParaRPr lang="en-US" sz="2760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endParaRPr>
            </a:p>
            <a:p>
              <a:pPr algn="just">
                <a:lnSpc>
                  <a:spcPts val="3640"/>
                </a:lnSpc>
              </a:pPr>
            </a:p>
            <a:p>
              <a:pPr marL="595630" lvl="1" indent="-297815" algn="just">
                <a:lnSpc>
                  <a:spcPts val="3640"/>
                </a:lnSpc>
                <a:buFont typeface="Arial" panose="020B0604020202020204"/>
                <a:buChar char="•"/>
              </a:pPr>
              <a:r>
                <a:rPr lang="en-US" sz="2760">
                  <a:solidFill>
                    <a:srgbClr val="FFFFFF"/>
                  </a:solidFill>
                  <a:latin typeface="ABeeZee" panose="02000000000000000000"/>
                  <a:ea typeface="ABeeZee" panose="02000000000000000000"/>
                  <a:cs typeface="ABeeZee" panose="02000000000000000000"/>
                  <a:sym typeface="ABeeZee" panose="02000000000000000000"/>
                </a:rPr>
                <a:t>Sorting by file attributes (size, type, date)</a:t>
              </a:r>
              <a:endParaRPr lang="en-US" sz="2760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endParaRPr>
            </a:p>
            <a:p>
              <a:pPr marL="595630" lvl="1" indent="-297815" algn="just">
                <a:lnSpc>
                  <a:spcPts val="3640"/>
                </a:lnSpc>
                <a:buFont typeface="Arial" panose="020B0604020202020204"/>
                <a:buChar char="•"/>
              </a:pPr>
              <a:r>
                <a:rPr lang="en-US" sz="2760">
                  <a:solidFill>
                    <a:srgbClr val="FFFFFF"/>
                  </a:solidFill>
                  <a:latin typeface="ABeeZee" panose="02000000000000000000"/>
                  <a:ea typeface="ABeeZee" panose="02000000000000000000"/>
                  <a:cs typeface="ABeeZee" panose="02000000000000000000"/>
                  <a:sym typeface="ABeeZee" panose="02000000000000000000"/>
                </a:rPr>
                <a:t>Exporting the data to a CSV file</a:t>
              </a:r>
              <a:endParaRPr lang="en-US" sz="2760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endParaRPr>
            </a:p>
            <a:p>
              <a:pPr marL="595630" lvl="1" indent="-297815" algn="just">
                <a:lnSpc>
                  <a:spcPts val="3640"/>
                </a:lnSpc>
                <a:buFont typeface="Arial" panose="020B0604020202020204"/>
                <a:buChar char="•"/>
              </a:pPr>
              <a:r>
                <a:rPr lang="en-US" sz="2760">
                  <a:solidFill>
                    <a:srgbClr val="FFFFFF"/>
                  </a:solidFill>
                  <a:latin typeface="ABeeZee" panose="02000000000000000000"/>
                  <a:ea typeface="ABeeZee" panose="02000000000000000000"/>
                  <a:cs typeface="ABeeZee" panose="02000000000000000000"/>
                  <a:sym typeface="ABeeZee" panose="02000000000000000000"/>
                </a:rPr>
                <a:t>Visualizing the data using pia chart</a:t>
              </a:r>
              <a:endParaRPr lang="en-US" sz="2760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endParaRPr>
            </a:p>
            <a:p>
              <a:pPr algn="just">
                <a:lnSpc>
                  <a:spcPts val="3640"/>
                </a:lnSpc>
              </a:p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214247" y="1114914"/>
            <a:ext cx="9859506" cy="855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sz="5515" b="1">
                <a:solidFill>
                  <a:srgbClr val="0B0C23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Overview of the Application</a:t>
            </a:r>
            <a:endParaRPr lang="en-US" sz="5515" b="1">
              <a:solidFill>
                <a:srgbClr val="0B0C23"/>
              </a:solidFill>
              <a:latin typeface="Museo Moderno Medium"/>
              <a:ea typeface="Museo Moderno Medium"/>
              <a:cs typeface="Museo Moderno Medium"/>
              <a:sym typeface="Museo Modern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665681" y="2937746"/>
            <a:ext cx="15050990" cy="6526664"/>
            <a:chOff x="0" y="0"/>
            <a:chExt cx="3964047" cy="17189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64047" cy="1718957"/>
            </a:xfrm>
            <a:custGeom>
              <a:avLst/>
              <a:gdLst/>
              <a:ahLst/>
              <a:cxnLst/>
              <a:rect l="l" t="t" r="r" b="b"/>
              <a:pathLst>
                <a:path w="3964047" h="1718957">
                  <a:moveTo>
                    <a:pt x="33949" y="0"/>
                  </a:moveTo>
                  <a:lnTo>
                    <a:pt x="3930098" y="0"/>
                  </a:lnTo>
                  <a:cubicBezTo>
                    <a:pt x="3948847" y="0"/>
                    <a:pt x="3964047" y="15200"/>
                    <a:pt x="3964047" y="33949"/>
                  </a:cubicBezTo>
                  <a:lnTo>
                    <a:pt x="3964047" y="1685008"/>
                  </a:lnTo>
                  <a:cubicBezTo>
                    <a:pt x="3964047" y="1703757"/>
                    <a:pt x="3948847" y="1718957"/>
                    <a:pt x="3930098" y="1718957"/>
                  </a:cubicBezTo>
                  <a:lnTo>
                    <a:pt x="33949" y="1718957"/>
                  </a:lnTo>
                  <a:cubicBezTo>
                    <a:pt x="15200" y="1718957"/>
                    <a:pt x="0" y="1703757"/>
                    <a:pt x="0" y="1685008"/>
                  </a:cubicBezTo>
                  <a:lnTo>
                    <a:pt x="0" y="33949"/>
                  </a:lnTo>
                  <a:cubicBezTo>
                    <a:pt x="0" y="15200"/>
                    <a:pt x="15200" y="0"/>
                    <a:pt x="33949" y="0"/>
                  </a:cubicBezTo>
                  <a:close/>
                </a:path>
              </a:pathLst>
            </a:custGeom>
            <a:solidFill>
              <a:srgbClr val="394B6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3964047" cy="174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5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81443" y="3414561"/>
            <a:ext cx="13555593" cy="587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rPr>
              <a:t>File management is a key part of working with digital data. </a:t>
            </a:r>
            <a:r>
              <a:rPr lang="en-US" sz="2800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rPr>
              <a:t>It is important for both individuals and organizations because it keeps files organized, saves time, and protects important information.</a:t>
            </a:r>
            <a:endParaRPr lang="en-US" sz="2800">
              <a:solidFill>
                <a:srgbClr val="FFFFFF"/>
              </a:solidFill>
              <a:latin typeface="ABeeZee" panose="02000000000000000000"/>
              <a:ea typeface="ABeeZee" panose="02000000000000000000"/>
              <a:cs typeface="ABeeZee" panose="02000000000000000000"/>
              <a:sym typeface="ABeeZee" panose="02000000000000000000"/>
            </a:endParaRP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sz="2800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rPr>
              <a:t>Why is File Management Important?</a:t>
            </a:r>
            <a:endParaRPr lang="en-US" sz="2800">
              <a:solidFill>
                <a:srgbClr val="FFFFFF"/>
              </a:solidFill>
              <a:latin typeface="ABeeZee" panose="02000000000000000000"/>
              <a:ea typeface="ABeeZee" panose="02000000000000000000"/>
              <a:cs typeface="ABeeZee" panose="02000000000000000000"/>
              <a:sym typeface="ABeeZee" panose="02000000000000000000"/>
            </a:endParaRPr>
          </a:p>
          <a:p>
            <a:pPr marL="604520" lvl="1" indent="-302260" algn="l">
              <a:lnSpc>
                <a:spcPts val="3360"/>
              </a:lnSpc>
              <a:buAutoNum type="arabicPeriod"/>
            </a:pPr>
            <a:r>
              <a:rPr lang="en-US" sz="2800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rPr>
              <a:t>📂 Easy to find files </a:t>
            </a:r>
            <a:endParaRPr lang="en-US" sz="2800">
              <a:solidFill>
                <a:srgbClr val="FFFFFF"/>
              </a:solidFill>
              <a:latin typeface="ABeeZee" panose="02000000000000000000"/>
              <a:ea typeface="ABeeZee" panose="02000000000000000000"/>
              <a:cs typeface="ABeeZee" panose="02000000000000000000"/>
              <a:sym typeface="ABeeZee" panose="02000000000000000000"/>
            </a:endParaRPr>
          </a:p>
          <a:p>
            <a:pPr marL="604520" lvl="1" indent="-302260" algn="l">
              <a:lnSpc>
                <a:spcPts val="3360"/>
              </a:lnSpc>
              <a:buAutoNum type="arabicPeriod"/>
            </a:pPr>
            <a:r>
              <a:rPr lang="en-US" sz="2800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rPr>
              <a:t>💾 Saves storage space </a:t>
            </a:r>
            <a:endParaRPr lang="en-US" sz="2800">
              <a:solidFill>
                <a:srgbClr val="FFFFFF"/>
              </a:solidFill>
              <a:latin typeface="ABeeZee" panose="02000000000000000000"/>
              <a:ea typeface="ABeeZee" panose="02000000000000000000"/>
              <a:cs typeface="ABeeZee" panose="02000000000000000000"/>
              <a:sym typeface="ABeeZee" panose="02000000000000000000"/>
            </a:endParaRPr>
          </a:p>
          <a:p>
            <a:pPr marL="604520" lvl="1" indent="-302260" algn="l">
              <a:lnSpc>
                <a:spcPts val="3360"/>
              </a:lnSpc>
              <a:buAutoNum type="arabicPeriod"/>
            </a:pPr>
            <a:r>
              <a:rPr lang="en-US" sz="2800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rPr>
              <a:t>⏱️ Saves time</a:t>
            </a:r>
            <a:endParaRPr lang="en-US" sz="2800">
              <a:solidFill>
                <a:srgbClr val="FFFFFF"/>
              </a:solidFill>
              <a:latin typeface="ABeeZee" panose="02000000000000000000"/>
              <a:ea typeface="ABeeZee" panose="02000000000000000000"/>
              <a:cs typeface="ABeeZee" panose="02000000000000000000"/>
              <a:sym typeface="ABeeZee" panose="02000000000000000000"/>
            </a:endParaRPr>
          </a:p>
          <a:p>
            <a:pPr marL="604520" lvl="1" indent="-302260" algn="l">
              <a:lnSpc>
                <a:spcPts val="3360"/>
              </a:lnSpc>
              <a:buAutoNum type="arabicPeriod"/>
            </a:pPr>
            <a:r>
              <a:rPr lang="en-US" sz="2800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rPr>
              <a:t>🔐 Protects important data</a:t>
            </a:r>
            <a:endParaRPr lang="en-US" sz="2800">
              <a:solidFill>
                <a:srgbClr val="FFFFFF"/>
              </a:solidFill>
              <a:latin typeface="ABeeZee" panose="02000000000000000000"/>
              <a:ea typeface="ABeeZee" panose="02000000000000000000"/>
              <a:cs typeface="ABeeZee" panose="02000000000000000000"/>
              <a:sym typeface="ABeeZee" panose="02000000000000000000"/>
            </a:endParaRPr>
          </a:p>
          <a:p>
            <a:pPr marL="604520" lvl="1" indent="-302260" algn="l">
              <a:lnSpc>
                <a:spcPts val="3360"/>
              </a:lnSpc>
              <a:buAutoNum type="arabicPeriod"/>
            </a:pPr>
            <a:r>
              <a:rPr lang="en-US" sz="2800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rPr>
              <a:t>👨‍💻 Improves your work </a:t>
            </a:r>
            <a:endParaRPr lang="en-US" sz="2800">
              <a:solidFill>
                <a:srgbClr val="FFFFFF"/>
              </a:solidFill>
              <a:latin typeface="ABeeZee" panose="02000000000000000000"/>
              <a:ea typeface="ABeeZee" panose="02000000000000000000"/>
              <a:cs typeface="ABeeZee" panose="02000000000000000000"/>
              <a:sym typeface="ABeeZee" panose="02000000000000000000"/>
            </a:endParaRP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</a:p>
        </p:txBody>
      </p:sp>
      <p:sp>
        <p:nvSpPr>
          <p:cNvPr id="6" name="TextBox 6"/>
          <p:cNvSpPr txBox="1"/>
          <p:nvPr/>
        </p:nvSpPr>
        <p:spPr>
          <a:xfrm>
            <a:off x="3084809" y="1258007"/>
            <a:ext cx="12118382" cy="953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30"/>
              </a:lnSpc>
            </a:pPr>
            <a:r>
              <a:rPr lang="en-US" sz="5595" b="1">
                <a:solidFill>
                  <a:srgbClr val="0B0C23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Importance of File Management</a:t>
            </a:r>
            <a:endParaRPr lang="en-US" sz="5595" b="1">
              <a:solidFill>
                <a:srgbClr val="0B0C23"/>
              </a:solidFill>
              <a:latin typeface="Museo Moderno Medium"/>
              <a:ea typeface="Museo Moderno Medium"/>
              <a:cs typeface="Museo Moderno Medium"/>
              <a:sym typeface="Museo Moderno Medium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-2977918" y="-1100388"/>
            <a:ext cx="5452664" cy="5295900"/>
          </a:xfrm>
          <a:custGeom>
            <a:avLst/>
            <a:gdLst/>
            <a:ahLst/>
            <a:cxnLst/>
            <a:rect l="l" t="t" r="r" b="b"/>
            <a:pathLst>
              <a:path w="5452664" h="5295900">
                <a:moveTo>
                  <a:pt x="0" y="0"/>
                </a:moveTo>
                <a:lnTo>
                  <a:pt x="5452664" y="0"/>
                </a:lnTo>
                <a:lnTo>
                  <a:pt x="5452664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901169" y="5623800"/>
            <a:ext cx="5452664" cy="5295900"/>
          </a:xfrm>
          <a:custGeom>
            <a:avLst/>
            <a:gdLst/>
            <a:ahLst/>
            <a:cxnLst/>
            <a:rect l="l" t="t" r="r" b="b"/>
            <a:pathLst>
              <a:path w="5452664" h="5295900">
                <a:moveTo>
                  <a:pt x="0" y="0"/>
                </a:moveTo>
                <a:lnTo>
                  <a:pt x="5452664" y="0"/>
                </a:lnTo>
                <a:lnTo>
                  <a:pt x="5452664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535029"/>
            <a:ext cx="8346715" cy="6532265"/>
          </a:xfrm>
          <a:custGeom>
            <a:avLst/>
            <a:gdLst/>
            <a:ahLst/>
            <a:cxnLst/>
            <a:rect l="l" t="t" r="r" b="b"/>
            <a:pathLst>
              <a:path w="8346715" h="6532265">
                <a:moveTo>
                  <a:pt x="0" y="0"/>
                </a:moveTo>
                <a:lnTo>
                  <a:pt x="8346715" y="0"/>
                </a:lnTo>
                <a:lnTo>
                  <a:pt x="8346715" y="6532265"/>
                </a:lnTo>
                <a:lnTo>
                  <a:pt x="0" y="6532265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8732" r="-873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977918" y="-1100388"/>
            <a:ext cx="5452664" cy="5295900"/>
          </a:xfrm>
          <a:custGeom>
            <a:avLst/>
            <a:gdLst/>
            <a:ahLst/>
            <a:cxnLst/>
            <a:rect l="l" t="t" r="r" b="b"/>
            <a:pathLst>
              <a:path w="5452664" h="5295900">
                <a:moveTo>
                  <a:pt x="0" y="0"/>
                </a:moveTo>
                <a:lnTo>
                  <a:pt x="5452664" y="0"/>
                </a:lnTo>
                <a:lnTo>
                  <a:pt x="5452664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901169" y="5623800"/>
            <a:ext cx="5452664" cy="5295900"/>
          </a:xfrm>
          <a:custGeom>
            <a:avLst/>
            <a:gdLst/>
            <a:ahLst/>
            <a:cxnLst/>
            <a:rect l="l" t="t" r="r" b="b"/>
            <a:pathLst>
              <a:path w="5452664" h="5295900">
                <a:moveTo>
                  <a:pt x="0" y="0"/>
                </a:moveTo>
                <a:lnTo>
                  <a:pt x="5452664" y="0"/>
                </a:lnTo>
                <a:lnTo>
                  <a:pt x="5452664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9580586" y="2535029"/>
            <a:ext cx="13209833" cy="8384671"/>
            <a:chOff x="0" y="0"/>
            <a:chExt cx="17613111" cy="11179562"/>
          </a:xfrm>
        </p:grpSpPr>
        <p:sp>
          <p:nvSpPr>
            <p:cNvPr id="6" name="Freeform 6"/>
            <p:cNvSpPr/>
            <p:nvPr/>
          </p:nvSpPr>
          <p:spPr>
            <a:xfrm>
              <a:off x="10342892" y="4118362"/>
              <a:ext cx="7270219" cy="7061200"/>
            </a:xfrm>
            <a:custGeom>
              <a:avLst/>
              <a:gdLst/>
              <a:ahLst/>
              <a:cxnLst/>
              <a:rect l="l" t="t" r="r" b="b"/>
              <a:pathLst>
                <a:path w="7270219" h="7061200">
                  <a:moveTo>
                    <a:pt x="0" y="0"/>
                  </a:moveTo>
                  <a:lnTo>
                    <a:pt x="7270219" y="0"/>
                  </a:lnTo>
                  <a:lnTo>
                    <a:pt x="7270219" y="7061200"/>
                  </a:lnTo>
                  <a:lnTo>
                    <a:pt x="0" y="706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7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 rot="0">
              <a:off x="0" y="0"/>
              <a:ext cx="11475227" cy="8709686"/>
              <a:chOff x="0" y="0"/>
              <a:chExt cx="2324844" cy="176455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324844" cy="1764554"/>
              </a:xfrm>
              <a:custGeom>
                <a:avLst/>
                <a:gdLst/>
                <a:ahLst/>
                <a:cxnLst/>
                <a:rect l="l" t="t" r="r" b="b"/>
                <a:pathLst>
                  <a:path w="2324844" h="1764554">
                    <a:moveTo>
                      <a:pt x="0" y="0"/>
                    </a:moveTo>
                    <a:lnTo>
                      <a:pt x="2324844" y="0"/>
                    </a:lnTo>
                    <a:lnTo>
                      <a:pt x="2324844" y="1764554"/>
                    </a:lnTo>
                    <a:lnTo>
                      <a:pt x="0" y="1764554"/>
                    </a:lnTo>
                    <a:close/>
                  </a:path>
                </a:pathLst>
              </a:custGeom>
              <a:solidFill>
                <a:srgbClr val="2D3B44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28575"/>
                <a:ext cx="2324844" cy="1793129"/>
              </a:xfrm>
              <a:prstGeom prst="rect">
                <a:avLst/>
              </a:prstGeom>
            </p:spPr>
            <p:txBody>
              <a:bodyPr lIns="54022" tIns="54022" rIns="54022" bIns="54022" rtlCol="0" anchor="ctr"/>
              <a:lstStyle/>
              <a:p>
                <a:pPr algn="ctr">
                  <a:lnSpc>
                    <a:spcPts val="2445"/>
                  </a:lnSpc>
                </a:pPr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183270" y="747695"/>
              <a:ext cx="11291957" cy="91260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760">
                  <a:solidFill>
                    <a:srgbClr val="FFFFFF"/>
                  </a:solidFill>
                  <a:latin typeface="ABeeZee" panose="02000000000000000000"/>
                  <a:ea typeface="ABeeZee" panose="02000000000000000000"/>
                  <a:cs typeface="ABeeZee" panose="02000000000000000000"/>
                  <a:sym typeface="ABeeZee" panose="02000000000000000000"/>
                </a:rPr>
                <a:t>Many users face difficulty when trying to view or understand the detailed information (metadata) of files stored in a folder. Windows </a:t>
              </a:r>
              <a:endParaRPr lang="en-US" sz="2760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endParaRPr>
            </a:p>
            <a:p>
              <a:pPr algn="l">
                <a:lnSpc>
                  <a:spcPts val="3640"/>
                </a:lnSpc>
              </a:pPr>
            </a:p>
            <a:p>
              <a:pPr algn="l">
                <a:lnSpc>
                  <a:spcPts val="3640"/>
                </a:lnSpc>
              </a:pPr>
              <a:r>
                <a:rPr lang="en-US" sz="2760">
                  <a:solidFill>
                    <a:srgbClr val="FFFFFF"/>
                  </a:solidFill>
                  <a:latin typeface="ABeeZee" panose="02000000000000000000"/>
                  <a:ea typeface="ABeeZee" panose="02000000000000000000"/>
                  <a:cs typeface="ABeeZee" panose="02000000000000000000"/>
                  <a:sym typeface="ABeeZee" panose="02000000000000000000"/>
                </a:rPr>
                <a:t>Explorer and similar file managers provide only basic views with limited control.</a:t>
              </a:r>
              <a:endParaRPr lang="en-US" sz="2760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endParaRPr>
            </a:p>
            <a:p>
              <a:pPr algn="l">
                <a:lnSpc>
                  <a:spcPts val="3640"/>
                </a:lnSpc>
              </a:pPr>
              <a:r>
                <a:rPr lang="en-US" sz="2760">
                  <a:solidFill>
                    <a:srgbClr val="FFFFFF"/>
                  </a:solidFill>
                  <a:latin typeface="ABeeZee" panose="02000000000000000000"/>
                  <a:ea typeface="ABeeZee" panose="02000000000000000000"/>
                  <a:cs typeface="ABeeZee" panose="02000000000000000000"/>
                  <a:sym typeface="ABeeZee" panose="02000000000000000000"/>
                </a:rPr>
                <a:t>There is no built-in or user-friendly tool that allows:</a:t>
              </a:r>
              <a:endParaRPr lang="en-US" sz="2760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endParaRPr>
            </a:p>
            <a:p>
              <a:pPr marL="595630" lvl="1" indent="-297815" algn="l">
                <a:lnSpc>
                  <a:spcPts val="3640"/>
                </a:lnSpc>
                <a:buFont typeface="Arial" panose="020B0604020202020204"/>
                <a:buChar char="•"/>
              </a:pPr>
              <a:r>
                <a:rPr lang="en-US" sz="2760">
                  <a:solidFill>
                    <a:srgbClr val="FFFFFF"/>
                  </a:solidFill>
                  <a:latin typeface="ABeeZee" panose="02000000000000000000"/>
                  <a:ea typeface="ABeeZee" panose="02000000000000000000"/>
                  <a:cs typeface="ABeeZee" panose="02000000000000000000"/>
                  <a:sym typeface="ABeeZee" panose="02000000000000000000"/>
                </a:rPr>
                <a:t>Sorting files by size, type, or date modified</a:t>
              </a:r>
              <a:endParaRPr lang="en-US" sz="2760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endParaRPr>
            </a:p>
            <a:p>
              <a:pPr marL="595630" lvl="1" indent="-297815" algn="l">
                <a:lnSpc>
                  <a:spcPts val="3640"/>
                </a:lnSpc>
                <a:buFont typeface="Arial" panose="020B0604020202020204"/>
                <a:buChar char="•"/>
              </a:pPr>
              <a:r>
                <a:rPr lang="en-US" sz="2760">
                  <a:solidFill>
                    <a:srgbClr val="FFFFFF"/>
                  </a:solidFill>
                  <a:latin typeface="ABeeZee" panose="02000000000000000000"/>
                  <a:ea typeface="ABeeZee" panose="02000000000000000000"/>
                  <a:cs typeface="ABeeZee" panose="02000000000000000000"/>
                  <a:sym typeface="ABeeZee" panose="02000000000000000000"/>
                </a:rPr>
                <a:t>Visualizing file data using charts or graphs</a:t>
              </a:r>
              <a:endParaRPr lang="en-US" sz="2760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endParaRPr>
            </a:p>
            <a:p>
              <a:pPr marL="595630" lvl="1" indent="-297815" algn="l">
                <a:lnSpc>
                  <a:spcPts val="3640"/>
                </a:lnSpc>
                <a:buFont typeface="Arial" panose="020B0604020202020204"/>
                <a:buChar char="•"/>
              </a:pPr>
              <a:r>
                <a:rPr lang="en-US" sz="2760">
                  <a:solidFill>
                    <a:srgbClr val="FFFFFF"/>
                  </a:solidFill>
                  <a:latin typeface="ABeeZee" panose="02000000000000000000"/>
                  <a:ea typeface="ABeeZee" panose="02000000000000000000"/>
                  <a:cs typeface="ABeeZee" panose="02000000000000000000"/>
                  <a:sym typeface="ABeeZee" panose="02000000000000000000"/>
                </a:rPr>
                <a:t>Exporting metadata to formats like CSV for reporting or analysis</a:t>
              </a:r>
              <a:endParaRPr lang="en-US" sz="2760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endParaRPr>
            </a:p>
            <a:p>
              <a:pPr algn="l">
                <a:lnSpc>
                  <a:spcPts val="3640"/>
                </a:lnSpc>
              </a:pPr>
            </a:p>
            <a:p>
              <a:pPr algn="l">
                <a:lnSpc>
                  <a:spcPts val="3640"/>
                </a:lnSpc>
              </a:pPr>
            </a:p>
            <a:p>
              <a:pPr algn="l">
                <a:lnSpc>
                  <a:spcPts val="364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8700" y="2535029"/>
            <a:ext cx="8346715" cy="6532265"/>
          </a:xfrm>
          <a:custGeom>
            <a:avLst/>
            <a:gdLst/>
            <a:ahLst/>
            <a:cxnLst/>
            <a:rect l="l" t="t" r="r" b="b"/>
            <a:pathLst>
              <a:path w="8346715" h="6532265">
                <a:moveTo>
                  <a:pt x="0" y="0"/>
                </a:moveTo>
                <a:lnTo>
                  <a:pt x="8346715" y="0"/>
                </a:lnTo>
                <a:lnTo>
                  <a:pt x="8346715" y="6532265"/>
                </a:lnTo>
                <a:lnTo>
                  <a:pt x="0" y="65322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32" r="-25167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596412" y="1096359"/>
            <a:ext cx="9095177" cy="873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10"/>
              </a:lnSpc>
            </a:pPr>
            <a:r>
              <a:rPr lang="en-US" sz="5555" b="1">
                <a:solidFill>
                  <a:srgbClr val="4792F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 Problem Statement</a:t>
            </a:r>
            <a:endParaRPr lang="en-US" sz="5555" b="1">
              <a:solidFill>
                <a:srgbClr val="4792FF"/>
              </a:solidFill>
              <a:latin typeface="Museo Moderno Medium"/>
              <a:ea typeface="Museo Moderno Medium"/>
              <a:cs typeface="Museo Moderno Medium"/>
              <a:sym typeface="Museo Moderno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977918" y="-1100388"/>
            <a:ext cx="5452664" cy="5295900"/>
          </a:xfrm>
          <a:custGeom>
            <a:avLst/>
            <a:gdLst/>
            <a:ahLst/>
            <a:cxnLst/>
            <a:rect l="l" t="t" r="r" b="b"/>
            <a:pathLst>
              <a:path w="5452664" h="5295900">
                <a:moveTo>
                  <a:pt x="0" y="0"/>
                </a:moveTo>
                <a:lnTo>
                  <a:pt x="5452664" y="0"/>
                </a:lnTo>
                <a:lnTo>
                  <a:pt x="5452664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901169" y="5623800"/>
            <a:ext cx="5452664" cy="5295900"/>
          </a:xfrm>
          <a:custGeom>
            <a:avLst/>
            <a:gdLst/>
            <a:ahLst/>
            <a:cxnLst/>
            <a:rect l="l" t="t" r="r" b="b"/>
            <a:pathLst>
              <a:path w="5452664" h="5295900">
                <a:moveTo>
                  <a:pt x="0" y="0"/>
                </a:moveTo>
                <a:lnTo>
                  <a:pt x="5452664" y="0"/>
                </a:lnTo>
                <a:lnTo>
                  <a:pt x="5452664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132585" y="5623800"/>
            <a:ext cx="5452664" cy="5295900"/>
          </a:xfrm>
          <a:custGeom>
            <a:avLst/>
            <a:gdLst/>
            <a:ahLst/>
            <a:cxnLst/>
            <a:rect l="l" t="t" r="r" b="b"/>
            <a:pathLst>
              <a:path w="5452664" h="5295900">
                <a:moveTo>
                  <a:pt x="0" y="0"/>
                </a:moveTo>
                <a:lnTo>
                  <a:pt x="5452664" y="0"/>
                </a:lnTo>
                <a:lnTo>
                  <a:pt x="5452664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2709696" y="2344920"/>
            <a:ext cx="13605710" cy="6532265"/>
            <a:chOff x="0" y="0"/>
            <a:chExt cx="3675297" cy="176455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75297" cy="1764554"/>
            </a:xfrm>
            <a:custGeom>
              <a:avLst/>
              <a:gdLst/>
              <a:ahLst/>
              <a:cxnLst/>
              <a:rect l="l" t="t" r="r" b="b"/>
              <a:pathLst>
                <a:path w="3675297" h="1764554">
                  <a:moveTo>
                    <a:pt x="0" y="0"/>
                  </a:moveTo>
                  <a:lnTo>
                    <a:pt x="3675297" y="0"/>
                  </a:lnTo>
                  <a:lnTo>
                    <a:pt x="3675297" y="1764554"/>
                  </a:lnTo>
                  <a:lnTo>
                    <a:pt x="0" y="1764554"/>
                  </a:lnTo>
                  <a:close/>
                </a:path>
              </a:pathLst>
            </a:custGeom>
            <a:solidFill>
              <a:srgbClr val="2D3B4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675297" cy="1793129"/>
            </a:xfrm>
            <a:prstGeom prst="rect">
              <a:avLst/>
            </a:prstGeom>
          </p:spPr>
          <p:txBody>
            <a:bodyPr lIns="54022" tIns="54022" rIns="54022" bIns="54022" rtlCol="0" anchor="ctr"/>
            <a:lstStyle/>
            <a:p>
              <a:pPr algn="ctr">
                <a:lnSpc>
                  <a:spcPts val="2445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968497" y="2889690"/>
            <a:ext cx="13088108" cy="6368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13460" lvl="1" indent="-506730" algn="l">
              <a:lnSpc>
                <a:spcPts val="6195"/>
              </a:lnSpc>
              <a:buFont typeface="Arial" panose="020B0604020202020204"/>
              <a:buChar char="•"/>
            </a:pPr>
            <a:r>
              <a:rPr lang="en-US" sz="4690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rPr>
              <a:t>Automate folder metadata extraction</a:t>
            </a:r>
            <a:endParaRPr lang="en-US" sz="4690">
              <a:solidFill>
                <a:srgbClr val="FFFFFF"/>
              </a:solidFill>
              <a:latin typeface="ABeeZee" panose="02000000000000000000"/>
              <a:ea typeface="ABeeZee" panose="02000000000000000000"/>
              <a:cs typeface="ABeeZee" panose="02000000000000000000"/>
              <a:sym typeface="ABeeZee" panose="02000000000000000000"/>
            </a:endParaRPr>
          </a:p>
          <a:p>
            <a:pPr marL="1013460" lvl="1" indent="-506730" algn="l">
              <a:lnSpc>
                <a:spcPts val="6195"/>
              </a:lnSpc>
              <a:buFont typeface="Arial" panose="020B0604020202020204"/>
              <a:buChar char="•"/>
            </a:pPr>
            <a:r>
              <a:rPr lang="en-US" sz="4690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rPr>
              <a:t>Provide sorting and filtering options</a:t>
            </a:r>
            <a:endParaRPr lang="en-US" sz="4690">
              <a:solidFill>
                <a:srgbClr val="FFFFFF"/>
              </a:solidFill>
              <a:latin typeface="ABeeZee" panose="02000000000000000000"/>
              <a:ea typeface="ABeeZee" panose="02000000000000000000"/>
              <a:cs typeface="ABeeZee" panose="02000000000000000000"/>
              <a:sym typeface="ABeeZee" panose="02000000000000000000"/>
            </a:endParaRPr>
          </a:p>
          <a:p>
            <a:pPr marL="1013460" lvl="1" indent="-506730" algn="l">
              <a:lnSpc>
                <a:spcPts val="6195"/>
              </a:lnSpc>
              <a:buFont typeface="Arial" panose="020B0604020202020204"/>
              <a:buChar char="•"/>
            </a:pPr>
            <a:r>
              <a:rPr lang="en-US" sz="4690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rPr>
              <a:t>Enable CSV export for reporting</a:t>
            </a:r>
            <a:endParaRPr lang="en-US" sz="4690">
              <a:solidFill>
                <a:srgbClr val="FFFFFF"/>
              </a:solidFill>
              <a:latin typeface="ABeeZee" panose="02000000000000000000"/>
              <a:ea typeface="ABeeZee" panose="02000000000000000000"/>
              <a:cs typeface="ABeeZee" panose="02000000000000000000"/>
              <a:sym typeface="ABeeZee" panose="02000000000000000000"/>
            </a:endParaRPr>
          </a:p>
          <a:p>
            <a:pPr marL="1013460" lvl="1" indent="-506730" algn="l">
              <a:lnSpc>
                <a:spcPts val="6195"/>
              </a:lnSpc>
              <a:buFont typeface="Arial" panose="020B0604020202020204"/>
              <a:buChar char="•"/>
            </a:pPr>
            <a:r>
              <a:rPr lang="en-US" sz="4690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rPr>
              <a:t>It allows users to see how different file types are using disk space.</a:t>
            </a:r>
            <a:endParaRPr lang="en-US" sz="4690">
              <a:solidFill>
                <a:srgbClr val="FFFFFF"/>
              </a:solidFill>
              <a:latin typeface="ABeeZee" panose="02000000000000000000"/>
              <a:ea typeface="ABeeZee" panose="02000000000000000000"/>
              <a:cs typeface="ABeeZee" panose="02000000000000000000"/>
              <a:sym typeface="ABeeZee" panose="02000000000000000000"/>
            </a:endParaRPr>
          </a:p>
          <a:p>
            <a:pPr marL="1013460" lvl="1" indent="-506730" algn="l">
              <a:lnSpc>
                <a:spcPts val="6195"/>
              </a:lnSpc>
              <a:buFont typeface="Arial" panose="020B0604020202020204"/>
              <a:buChar char="•"/>
            </a:pPr>
            <a:r>
              <a:rPr lang="en-US" sz="4690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rPr>
              <a:t>Make the tool user-friendly with GUI</a:t>
            </a:r>
            <a:endParaRPr lang="en-US" sz="4690">
              <a:solidFill>
                <a:srgbClr val="FFFFFF"/>
              </a:solidFill>
              <a:latin typeface="ABeeZee" panose="02000000000000000000"/>
              <a:ea typeface="ABeeZee" panose="02000000000000000000"/>
              <a:cs typeface="ABeeZee" panose="02000000000000000000"/>
              <a:sym typeface="ABeeZee" panose="02000000000000000000"/>
            </a:endParaRPr>
          </a:p>
          <a:p>
            <a:pPr algn="l">
              <a:lnSpc>
                <a:spcPts val="6195"/>
              </a:lnSpc>
            </a:pPr>
          </a:p>
          <a:p>
            <a:pPr algn="l">
              <a:lnSpc>
                <a:spcPts val="7115"/>
              </a:lnSpc>
            </a:pPr>
          </a:p>
        </p:txBody>
      </p:sp>
      <p:sp>
        <p:nvSpPr>
          <p:cNvPr id="9" name="TextBox 9"/>
          <p:cNvSpPr txBox="1"/>
          <p:nvPr/>
        </p:nvSpPr>
        <p:spPr>
          <a:xfrm>
            <a:off x="4596412" y="1096359"/>
            <a:ext cx="9095177" cy="873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10"/>
              </a:lnSpc>
            </a:pPr>
            <a:r>
              <a:rPr lang="en-US" sz="5555">
                <a:solidFill>
                  <a:srgbClr val="4792FF"/>
                </a:solidFill>
                <a:latin typeface="Museo Moderno"/>
                <a:ea typeface="Museo Moderno"/>
                <a:cs typeface="Museo Moderno"/>
                <a:sym typeface="Museo Moderno"/>
              </a:rPr>
              <a:t>objectives </a:t>
            </a:r>
            <a:endParaRPr lang="en-US" sz="5555">
              <a:solidFill>
                <a:srgbClr val="4792FF"/>
              </a:solidFill>
              <a:latin typeface="Museo Moderno"/>
              <a:ea typeface="Museo Moderno"/>
              <a:cs typeface="Museo Moderno"/>
              <a:sym typeface="Museo Moder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07456" y="2214199"/>
            <a:ext cx="13953943" cy="944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80"/>
              </a:lnSpc>
            </a:pPr>
            <a:r>
              <a:rPr lang="en-US" sz="5560" b="1">
                <a:solidFill>
                  <a:srgbClr val="4792F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MetaTrackr – File Metadata Analyzer</a:t>
            </a:r>
            <a:endParaRPr lang="en-US" sz="5560" b="1">
              <a:solidFill>
                <a:srgbClr val="4792FF"/>
              </a:solidFill>
              <a:latin typeface="Museo Moderno Medium"/>
              <a:ea typeface="Museo Moderno Medium"/>
              <a:cs typeface="Museo Moderno Medium"/>
              <a:sym typeface="Museo Moderno Medium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1028700" y="3723592"/>
            <a:ext cx="16230600" cy="6023632"/>
            <a:chOff x="0" y="0"/>
            <a:chExt cx="4274726" cy="158647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1586471"/>
            </a:xfrm>
            <a:custGeom>
              <a:avLst/>
              <a:gdLst/>
              <a:ahLst/>
              <a:cxnLst/>
              <a:rect l="l" t="t" r="r" b="b"/>
              <a:pathLst>
                <a:path w="4274726" h="1586471">
                  <a:moveTo>
                    <a:pt x="31482" y="0"/>
                  </a:moveTo>
                  <a:lnTo>
                    <a:pt x="4243244" y="0"/>
                  </a:lnTo>
                  <a:cubicBezTo>
                    <a:pt x="4260631" y="0"/>
                    <a:pt x="4274726" y="14095"/>
                    <a:pt x="4274726" y="31482"/>
                  </a:cubicBezTo>
                  <a:lnTo>
                    <a:pt x="4274726" y="1554989"/>
                  </a:lnTo>
                  <a:cubicBezTo>
                    <a:pt x="4274726" y="1563339"/>
                    <a:pt x="4271409" y="1571346"/>
                    <a:pt x="4265505" y="1577250"/>
                  </a:cubicBezTo>
                  <a:cubicBezTo>
                    <a:pt x="4259601" y="1583154"/>
                    <a:pt x="4251594" y="1586471"/>
                    <a:pt x="4243244" y="1586471"/>
                  </a:cubicBezTo>
                  <a:lnTo>
                    <a:pt x="31482" y="1586471"/>
                  </a:lnTo>
                  <a:cubicBezTo>
                    <a:pt x="23132" y="1586471"/>
                    <a:pt x="15125" y="1583154"/>
                    <a:pt x="9221" y="1577250"/>
                  </a:cubicBezTo>
                  <a:cubicBezTo>
                    <a:pt x="3317" y="1571346"/>
                    <a:pt x="0" y="1563339"/>
                    <a:pt x="0" y="1554989"/>
                  </a:cubicBezTo>
                  <a:lnTo>
                    <a:pt x="0" y="31482"/>
                  </a:lnTo>
                  <a:cubicBezTo>
                    <a:pt x="0" y="14095"/>
                    <a:pt x="14095" y="0"/>
                    <a:pt x="31482" y="0"/>
                  </a:cubicBezTo>
                  <a:close/>
                </a:path>
              </a:pathLst>
            </a:custGeom>
            <a:solidFill>
              <a:srgbClr val="394B6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274726" cy="16150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5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-2978250" y="-1100388"/>
            <a:ext cx="5452664" cy="5295900"/>
          </a:xfrm>
          <a:custGeom>
            <a:avLst/>
            <a:gdLst/>
            <a:ahLst/>
            <a:cxnLst/>
            <a:rect l="l" t="t" r="r" b="b"/>
            <a:pathLst>
              <a:path w="5452664" h="5295900">
                <a:moveTo>
                  <a:pt x="0" y="0"/>
                </a:moveTo>
                <a:lnTo>
                  <a:pt x="5452664" y="0"/>
                </a:lnTo>
                <a:lnTo>
                  <a:pt x="5452664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441178" y="-2556987"/>
            <a:ext cx="5452664" cy="5295900"/>
          </a:xfrm>
          <a:custGeom>
            <a:avLst/>
            <a:gdLst/>
            <a:ahLst/>
            <a:cxnLst/>
            <a:rect l="l" t="t" r="r" b="b"/>
            <a:pathLst>
              <a:path w="5452664" h="5295900">
                <a:moveTo>
                  <a:pt x="0" y="0"/>
                </a:moveTo>
                <a:lnTo>
                  <a:pt x="5452665" y="0"/>
                </a:lnTo>
                <a:lnTo>
                  <a:pt x="5452665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273979" y="3854051"/>
            <a:ext cx="5428376" cy="5759792"/>
          </a:xfrm>
          <a:custGeom>
            <a:avLst/>
            <a:gdLst/>
            <a:ahLst/>
            <a:cxnLst/>
            <a:rect l="l" t="t" r="r" b="b"/>
            <a:pathLst>
              <a:path w="5428376" h="5759792">
                <a:moveTo>
                  <a:pt x="0" y="0"/>
                </a:moveTo>
                <a:lnTo>
                  <a:pt x="5428376" y="0"/>
                </a:lnTo>
                <a:lnTo>
                  <a:pt x="5428376" y="5759792"/>
                </a:lnTo>
                <a:lnTo>
                  <a:pt x="0" y="57597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86297">
            <a:off x="10904617" y="5123865"/>
            <a:ext cx="1595476" cy="525601"/>
          </a:xfrm>
          <a:custGeom>
            <a:avLst/>
            <a:gdLst/>
            <a:ahLst/>
            <a:cxnLst/>
            <a:rect l="l" t="t" r="r" b="b"/>
            <a:pathLst>
              <a:path w="1595476" h="525601">
                <a:moveTo>
                  <a:pt x="0" y="0"/>
                </a:moveTo>
                <a:lnTo>
                  <a:pt x="1595476" y="0"/>
                </a:lnTo>
                <a:lnTo>
                  <a:pt x="1595476" y="525602"/>
                </a:lnTo>
                <a:lnTo>
                  <a:pt x="0" y="5256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192938" y="3158852"/>
            <a:ext cx="2594072" cy="1481648"/>
          </a:xfrm>
          <a:custGeom>
            <a:avLst/>
            <a:gdLst/>
            <a:ahLst/>
            <a:cxnLst/>
            <a:rect l="l" t="t" r="r" b="b"/>
            <a:pathLst>
              <a:path w="2594072" h="1481648">
                <a:moveTo>
                  <a:pt x="0" y="0"/>
                </a:moveTo>
                <a:lnTo>
                  <a:pt x="2594072" y="0"/>
                </a:lnTo>
                <a:lnTo>
                  <a:pt x="2594072" y="1481648"/>
                </a:lnTo>
                <a:lnTo>
                  <a:pt x="0" y="14816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610077">
            <a:off x="5482104" y="5572023"/>
            <a:ext cx="2156096" cy="631081"/>
          </a:xfrm>
          <a:custGeom>
            <a:avLst/>
            <a:gdLst/>
            <a:ahLst/>
            <a:cxnLst/>
            <a:rect l="l" t="t" r="r" b="b"/>
            <a:pathLst>
              <a:path w="2156096" h="631081">
                <a:moveTo>
                  <a:pt x="0" y="0"/>
                </a:moveTo>
                <a:lnTo>
                  <a:pt x="2156097" y="0"/>
                </a:lnTo>
                <a:lnTo>
                  <a:pt x="2156097" y="631081"/>
                </a:lnTo>
                <a:lnTo>
                  <a:pt x="0" y="631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4043127">
            <a:off x="4626661" y="7461965"/>
            <a:ext cx="1633342" cy="2945371"/>
          </a:xfrm>
          <a:custGeom>
            <a:avLst/>
            <a:gdLst/>
            <a:ahLst/>
            <a:cxnLst/>
            <a:rect l="l" t="t" r="r" b="b"/>
            <a:pathLst>
              <a:path w="1633342" h="2945371">
                <a:moveTo>
                  <a:pt x="0" y="0"/>
                </a:moveTo>
                <a:lnTo>
                  <a:pt x="1633342" y="0"/>
                </a:lnTo>
                <a:lnTo>
                  <a:pt x="1633342" y="2945371"/>
                </a:lnTo>
                <a:lnTo>
                  <a:pt x="0" y="29453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223635" y="8634666"/>
            <a:ext cx="2957440" cy="979177"/>
          </a:xfrm>
          <a:custGeom>
            <a:avLst/>
            <a:gdLst/>
            <a:ahLst/>
            <a:cxnLst/>
            <a:rect l="l" t="t" r="r" b="b"/>
            <a:pathLst>
              <a:path w="2957440" h="979177">
                <a:moveTo>
                  <a:pt x="0" y="0"/>
                </a:moveTo>
                <a:lnTo>
                  <a:pt x="2957440" y="0"/>
                </a:lnTo>
                <a:lnTo>
                  <a:pt x="2957440" y="979177"/>
                </a:lnTo>
                <a:lnTo>
                  <a:pt x="0" y="97917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67607" y="4400000"/>
            <a:ext cx="5245279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>
                <a:solidFill>
                  <a:srgbClr val="FFFFFF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rPr>
              <a:t>Selected folder: C:/Users/Maaz/Desktop/Data</a:t>
            </a:r>
            <a:endParaRPr lang="en-US" sz="2500">
              <a:solidFill>
                <a:srgbClr val="FFFFFF"/>
              </a:solidFill>
              <a:latin typeface="ABeeZee Bold" panose="02000000000000000000"/>
              <a:ea typeface="ABeeZee Bold" panose="02000000000000000000"/>
              <a:cs typeface="ABeeZee Bold" panose="02000000000000000000"/>
              <a:sym typeface="ABeeZee Bold" panose="020000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807456" y="1290302"/>
            <a:ext cx="12673088" cy="1028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80"/>
              </a:lnSpc>
            </a:pPr>
            <a:r>
              <a:rPr lang="en-US" sz="6060" b="1">
                <a:solidFill>
                  <a:srgbClr val="0B0C23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System Architecture</a:t>
            </a:r>
            <a:endParaRPr lang="en-US" sz="6060" b="1">
              <a:solidFill>
                <a:srgbClr val="0B0C23"/>
              </a:solidFill>
              <a:latin typeface="Museo Moderno Medium"/>
              <a:ea typeface="Museo Moderno Medium"/>
              <a:cs typeface="Museo Moderno Medium"/>
              <a:sym typeface="Museo Moderno Medium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67607" y="5812253"/>
            <a:ext cx="5245279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>
                <a:solidFill>
                  <a:srgbClr val="FFFFFF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rPr>
              <a:t>dvanced Filter" and "Show All Files" options available</a:t>
            </a:r>
            <a:endParaRPr lang="en-US" sz="2500">
              <a:solidFill>
                <a:srgbClr val="FFFFFF"/>
              </a:solidFill>
              <a:latin typeface="ABeeZee Bold" panose="02000000000000000000"/>
              <a:ea typeface="ABeeZee Bold" panose="02000000000000000000"/>
              <a:cs typeface="ABeeZee Bold" panose="02000000000000000000"/>
              <a:sym typeface="ABeeZee Bold" panose="020000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241473" y="7604955"/>
            <a:ext cx="5245279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>
                <a:solidFill>
                  <a:srgbClr val="FFFFFF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rPr>
              <a:t>.xlsx files are the most common (53.8%)</a:t>
            </a:r>
            <a:endParaRPr lang="en-US" sz="2500">
              <a:solidFill>
                <a:srgbClr val="FFFFFF"/>
              </a:solidFill>
              <a:latin typeface="ABeeZee Bold" panose="02000000000000000000"/>
              <a:ea typeface="ABeeZee Bold" panose="02000000000000000000"/>
              <a:cs typeface="ABeeZee Bold" panose="02000000000000000000"/>
              <a:sym typeface="ABeeZee Bold" panose="020000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67607" y="7233480"/>
            <a:ext cx="5245279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>
                <a:solidFill>
                  <a:srgbClr val="FFFFFF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rPr>
              <a:t>Pie chart shows file type distribution in the folder</a:t>
            </a:r>
            <a:endParaRPr lang="en-US" sz="2500">
              <a:solidFill>
                <a:srgbClr val="FFFFFF"/>
              </a:solidFill>
              <a:latin typeface="ABeeZee Bold" panose="02000000000000000000"/>
              <a:ea typeface="ABeeZee Bold" panose="02000000000000000000"/>
              <a:cs typeface="ABeeZee Bold" panose="02000000000000000000"/>
              <a:sym typeface="ABeeZee Bold" panose="0200000000000000000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2241473" y="5982933"/>
            <a:ext cx="5245279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>
                <a:solidFill>
                  <a:srgbClr val="FFFFFF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rPr>
              <a:t>Visual summary helps users understand folder contents quickly</a:t>
            </a:r>
            <a:endParaRPr lang="en-US" sz="2500">
              <a:solidFill>
                <a:srgbClr val="FFFFFF"/>
              </a:solidFill>
              <a:latin typeface="ABeeZee Bold" panose="02000000000000000000"/>
              <a:ea typeface="ABeeZee Bold" panose="02000000000000000000"/>
              <a:cs typeface="ABeeZee Bold" panose="02000000000000000000"/>
              <a:sym typeface="ABeeZee Bold" panose="0200000000000000000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241473" y="4476750"/>
            <a:ext cx="5245279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>
                <a:solidFill>
                  <a:srgbClr val="FFFFFF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rPr>
              <a:t>Buttons to filter files by type: Word, PowerPoint, Excel, PDF</a:t>
            </a:r>
            <a:endParaRPr lang="en-US" sz="2500">
              <a:solidFill>
                <a:srgbClr val="FFFFFF"/>
              </a:solidFill>
              <a:latin typeface="ABeeZee Bold" panose="02000000000000000000"/>
              <a:ea typeface="ABeeZee Bold" panose="02000000000000000000"/>
              <a:cs typeface="ABeeZee Bold" panose="02000000000000000000"/>
              <a:sym typeface="ABeeZee Bold" panose="0200000000000000000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76939" y="1442787"/>
            <a:ext cx="13953943" cy="944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80"/>
              </a:lnSpc>
            </a:pPr>
            <a:r>
              <a:rPr lang="en-US" sz="5560" b="1">
                <a:solidFill>
                  <a:srgbClr val="4792F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MetaTrackr – File Metadata Analyzer</a:t>
            </a:r>
            <a:endParaRPr lang="en-US" sz="5560" b="1">
              <a:solidFill>
                <a:srgbClr val="4792FF"/>
              </a:solidFill>
              <a:latin typeface="Museo Moderno Medium"/>
              <a:ea typeface="Museo Moderno Medium"/>
              <a:cs typeface="Museo Moderno Medium"/>
              <a:sym typeface="Museo Moderno Medium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1028700" y="2824638"/>
            <a:ext cx="16230600" cy="7462362"/>
            <a:chOff x="0" y="0"/>
            <a:chExt cx="4274726" cy="19653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1965396"/>
            </a:xfrm>
            <a:custGeom>
              <a:avLst/>
              <a:gdLst/>
              <a:ahLst/>
              <a:cxnLst/>
              <a:rect l="l" t="t" r="r" b="b"/>
              <a:pathLst>
                <a:path w="4274726" h="1965396">
                  <a:moveTo>
                    <a:pt x="31482" y="0"/>
                  </a:moveTo>
                  <a:lnTo>
                    <a:pt x="4243244" y="0"/>
                  </a:lnTo>
                  <a:cubicBezTo>
                    <a:pt x="4260631" y="0"/>
                    <a:pt x="4274726" y="14095"/>
                    <a:pt x="4274726" y="31482"/>
                  </a:cubicBezTo>
                  <a:lnTo>
                    <a:pt x="4274726" y="1933914"/>
                  </a:lnTo>
                  <a:cubicBezTo>
                    <a:pt x="4274726" y="1942264"/>
                    <a:pt x="4271409" y="1950271"/>
                    <a:pt x="4265505" y="1956175"/>
                  </a:cubicBezTo>
                  <a:cubicBezTo>
                    <a:pt x="4259601" y="1962079"/>
                    <a:pt x="4251594" y="1965396"/>
                    <a:pt x="4243244" y="1965396"/>
                  </a:cubicBezTo>
                  <a:lnTo>
                    <a:pt x="31482" y="1965396"/>
                  </a:lnTo>
                  <a:cubicBezTo>
                    <a:pt x="14095" y="1965396"/>
                    <a:pt x="0" y="1951301"/>
                    <a:pt x="0" y="1933914"/>
                  </a:cubicBezTo>
                  <a:lnTo>
                    <a:pt x="0" y="31482"/>
                  </a:lnTo>
                  <a:cubicBezTo>
                    <a:pt x="0" y="14095"/>
                    <a:pt x="14095" y="0"/>
                    <a:pt x="31482" y="0"/>
                  </a:cubicBezTo>
                  <a:close/>
                </a:path>
              </a:pathLst>
            </a:custGeom>
            <a:solidFill>
              <a:srgbClr val="394B6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274726" cy="1993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5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-2978250" y="-1100388"/>
            <a:ext cx="5452664" cy="5295900"/>
          </a:xfrm>
          <a:custGeom>
            <a:avLst/>
            <a:gdLst/>
            <a:ahLst/>
            <a:cxnLst/>
            <a:rect l="l" t="t" r="r" b="b"/>
            <a:pathLst>
              <a:path w="5452664" h="5295900">
                <a:moveTo>
                  <a:pt x="0" y="0"/>
                </a:moveTo>
                <a:lnTo>
                  <a:pt x="5452664" y="0"/>
                </a:lnTo>
                <a:lnTo>
                  <a:pt x="5452664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441178" y="-2556987"/>
            <a:ext cx="5452664" cy="5295900"/>
          </a:xfrm>
          <a:custGeom>
            <a:avLst/>
            <a:gdLst/>
            <a:ahLst/>
            <a:cxnLst/>
            <a:rect l="l" t="t" r="r" b="b"/>
            <a:pathLst>
              <a:path w="5452664" h="5295900">
                <a:moveTo>
                  <a:pt x="0" y="0"/>
                </a:moveTo>
                <a:lnTo>
                  <a:pt x="5452665" y="0"/>
                </a:lnTo>
                <a:lnTo>
                  <a:pt x="5452665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171741" y="3433846"/>
            <a:ext cx="9955296" cy="3121973"/>
          </a:xfrm>
          <a:custGeom>
            <a:avLst/>
            <a:gdLst/>
            <a:ahLst/>
            <a:cxnLst/>
            <a:rect l="l" t="t" r="r" b="b"/>
            <a:pathLst>
              <a:path w="9955296" h="3121973">
                <a:moveTo>
                  <a:pt x="0" y="0"/>
                </a:moveTo>
                <a:lnTo>
                  <a:pt x="9955297" y="0"/>
                </a:lnTo>
                <a:lnTo>
                  <a:pt x="9955297" y="3121973"/>
                </a:lnTo>
                <a:lnTo>
                  <a:pt x="0" y="31219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116" r="-7403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876939" y="433030"/>
            <a:ext cx="12673088" cy="1028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80"/>
              </a:lnSpc>
            </a:pPr>
            <a:r>
              <a:rPr lang="en-US" sz="6060" b="1">
                <a:solidFill>
                  <a:srgbClr val="0B0C23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Home Screen</a:t>
            </a:r>
            <a:endParaRPr lang="en-US" sz="6060" b="1">
              <a:solidFill>
                <a:srgbClr val="0B0C23"/>
              </a:solidFill>
              <a:latin typeface="Museo Moderno Medium"/>
              <a:ea typeface="Museo Moderno Medium"/>
              <a:cs typeface="Museo Moderno Medium"/>
              <a:sym typeface="Museo Moderno Mediu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195899" y="3424321"/>
            <a:ext cx="5245279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>
                <a:solidFill>
                  <a:srgbClr val="FFFFFF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rPr>
              <a:t>dvanced Filter" and "Show All Files" options available</a:t>
            </a:r>
            <a:endParaRPr lang="en-US" sz="2500">
              <a:solidFill>
                <a:srgbClr val="FFFFFF"/>
              </a:solidFill>
              <a:latin typeface="ABeeZee Bold" panose="02000000000000000000"/>
              <a:ea typeface="ABeeZee Bold" panose="02000000000000000000"/>
              <a:cs typeface="ABeeZee Bold" panose="02000000000000000000"/>
              <a:sym typeface="ABeeZee Bold" panose="02000000000000000000"/>
            </a:endParaRPr>
          </a:p>
        </p:txBody>
      </p:sp>
      <p:grpSp>
        <p:nvGrpSpPr>
          <p:cNvPr id="11" name="Group 11"/>
          <p:cNvGrpSpPr/>
          <p:nvPr/>
        </p:nvGrpSpPr>
        <p:grpSpPr>
          <a:xfrm rot="0">
            <a:off x="4608631" y="6872465"/>
            <a:ext cx="12403287" cy="600075"/>
            <a:chOff x="0" y="0"/>
            <a:chExt cx="16537716" cy="80010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6993705" cy="809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00"/>
                </a:lnSpc>
              </a:pPr>
              <a:r>
                <a:rPr lang="en-US" sz="4000">
                  <a:solidFill>
                    <a:srgbClr val="FFFFFF"/>
                  </a:solidFill>
                  <a:latin typeface="ABeeZee Bold" panose="02000000000000000000"/>
                  <a:ea typeface="ABeeZee Bold" panose="02000000000000000000"/>
                  <a:cs typeface="ABeeZee Bold" panose="02000000000000000000"/>
                  <a:sym typeface="ABeeZee Bold" panose="02000000000000000000"/>
                </a:rPr>
                <a:t>word</a:t>
              </a:r>
              <a:endParaRPr lang="en-US" sz="4000">
                <a:solidFill>
                  <a:srgbClr val="FFFFFF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50305" y="-9525"/>
              <a:ext cx="6993705" cy="809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00"/>
                </a:lnSpc>
              </a:pPr>
              <a:r>
                <a:rPr lang="en-US" sz="4000">
                  <a:solidFill>
                    <a:srgbClr val="FFFFFF"/>
                  </a:solidFill>
                  <a:latin typeface="ABeeZee Bold" panose="02000000000000000000"/>
                  <a:ea typeface="ABeeZee Bold" panose="02000000000000000000"/>
                  <a:cs typeface="ABeeZee Bold" panose="02000000000000000000"/>
                  <a:sym typeface="ABeeZee Bold" panose="02000000000000000000"/>
                </a:rPr>
                <a:t>Powerpoint</a:t>
              </a:r>
              <a:endParaRPr lang="en-US" sz="4000">
                <a:solidFill>
                  <a:srgbClr val="FFFFFF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993705" y="-9525"/>
              <a:ext cx="6993705" cy="809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00"/>
                </a:lnSpc>
              </a:pPr>
              <a:r>
                <a:rPr lang="en-US" sz="4000">
                  <a:solidFill>
                    <a:srgbClr val="FFFFFF"/>
                  </a:solidFill>
                  <a:latin typeface="ABeeZee Bold" panose="02000000000000000000"/>
                  <a:ea typeface="ABeeZee Bold" panose="02000000000000000000"/>
                  <a:cs typeface="ABeeZee Bold" panose="02000000000000000000"/>
                  <a:sym typeface="ABeeZee Bold" panose="02000000000000000000"/>
                </a:rPr>
                <a:t>Excel</a:t>
              </a:r>
              <a:endParaRPr lang="en-US" sz="4000">
                <a:solidFill>
                  <a:srgbClr val="FFFFFF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44011" y="-9525"/>
              <a:ext cx="6993705" cy="809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00"/>
                </a:lnSpc>
              </a:pPr>
              <a:r>
                <a:rPr lang="en-US" sz="4000">
                  <a:solidFill>
                    <a:srgbClr val="FFFFFF"/>
                  </a:solidFill>
                  <a:latin typeface="ABeeZee Bold" panose="02000000000000000000"/>
                  <a:ea typeface="ABeeZee Bold" panose="02000000000000000000"/>
                  <a:cs typeface="ABeeZee Bold" panose="02000000000000000000"/>
                  <a:sym typeface="ABeeZee Bold" panose="02000000000000000000"/>
                </a:rPr>
                <a:t>PDF</a:t>
              </a:r>
              <a:endParaRPr lang="en-US" sz="4000">
                <a:solidFill>
                  <a:srgbClr val="FFFFFF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273279" y="7777340"/>
            <a:ext cx="875745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FFFFFF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rPr>
              <a:t>Advance Filter</a:t>
            </a:r>
            <a:endParaRPr lang="en-US" sz="4000">
              <a:solidFill>
                <a:srgbClr val="FFFFFF"/>
              </a:solidFill>
              <a:latin typeface="ABeeZee Bold" panose="02000000000000000000"/>
              <a:ea typeface="ABeeZee Bold" panose="02000000000000000000"/>
              <a:cs typeface="ABeeZee Bold" panose="02000000000000000000"/>
              <a:sym typeface="ABeeZee Bold" panose="020000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273279" y="8691740"/>
            <a:ext cx="875745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FFFFFF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rPr>
              <a:t>Show All Files</a:t>
            </a:r>
            <a:endParaRPr lang="en-US" sz="4000">
              <a:solidFill>
                <a:srgbClr val="FFFFFF"/>
              </a:solidFill>
              <a:latin typeface="ABeeZee Bold" panose="02000000000000000000"/>
              <a:ea typeface="ABeeZee Bold" panose="02000000000000000000"/>
              <a:cs typeface="ABeeZee Bold" panose="02000000000000000000"/>
              <a:sym typeface="ABeeZee Bold" panose="0200000000000000000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76939" y="1442787"/>
            <a:ext cx="13953943" cy="944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80"/>
              </a:lnSpc>
            </a:pPr>
            <a:r>
              <a:rPr lang="en-US" sz="5560" b="1">
                <a:solidFill>
                  <a:srgbClr val="4792F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MetaTrackr – File Metadata Analyzer</a:t>
            </a:r>
            <a:endParaRPr lang="en-US" sz="5560" b="1">
              <a:solidFill>
                <a:srgbClr val="4792FF"/>
              </a:solidFill>
              <a:latin typeface="Museo Moderno Medium"/>
              <a:ea typeface="Museo Moderno Medium"/>
              <a:cs typeface="Museo Moderno Medium"/>
              <a:sym typeface="Museo Moderno Medium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1028700" y="2824638"/>
            <a:ext cx="16903581" cy="7462362"/>
            <a:chOff x="0" y="0"/>
            <a:chExt cx="4451972" cy="19653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51972" cy="1965396"/>
            </a:xfrm>
            <a:custGeom>
              <a:avLst/>
              <a:gdLst/>
              <a:ahLst/>
              <a:cxnLst/>
              <a:rect l="l" t="t" r="r" b="b"/>
              <a:pathLst>
                <a:path w="4451972" h="1965396">
                  <a:moveTo>
                    <a:pt x="30228" y="0"/>
                  </a:moveTo>
                  <a:lnTo>
                    <a:pt x="4421744" y="0"/>
                  </a:lnTo>
                  <a:cubicBezTo>
                    <a:pt x="4438438" y="0"/>
                    <a:pt x="4451972" y="13534"/>
                    <a:pt x="4451972" y="30228"/>
                  </a:cubicBezTo>
                  <a:lnTo>
                    <a:pt x="4451972" y="1935168"/>
                  </a:lnTo>
                  <a:cubicBezTo>
                    <a:pt x="4451972" y="1951862"/>
                    <a:pt x="4438438" y="1965396"/>
                    <a:pt x="4421744" y="1965396"/>
                  </a:cubicBezTo>
                  <a:lnTo>
                    <a:pt x="30228" y="1965396"/>
                  </a:lnTo>
                  <a:cubicBezTo>
                    <a:pt x="13534" y="1965396"/>
                    <a:pt x="0" y="1951862"/>
                    <a:pt x="0" y="1935168"/>
                  </a:cubicBezTo>
                  <a:lnTo>
                    <a:pt x="0" y="30228"/>
                  </a:lnTo>
                  <a:cubicBezTo>
                    <a:pt x="0" y="13534"/>
                    <a:pt x="13534" y="0"/>
                    <a:pt x="30228" y="0"/>
                  </a:cubicBezTo>
                  <a:close/>
                </a:path>
              </a:pathLst>
            </a:custGeom>
            <a:solidFill>
              <a:srgbClr val="394B6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451972" cy="1993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5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-2978250" y="-1100388"/>
            <a:ext cx="5452664" cy="5295900"/>
          </a:xfrm>
          <a:custGeom>
            <a:avLst/>
            <a:gdLst/>
            <a:ahLst/>
            <a:cxnLst/>
            <a:rect l="l" t="t" r="r" b="b"/>
            <a:pathLst>
              <a:path w="5452664" h="5295900">
                <a:moveTo>
                  <a:pt x="0" y="0"/>
                </a:moveTo>
                <a:lnTo>
                  <a:pt x="5452664" y="0"/>
                </a:lnTo>
                <a:lnTo>
                  <a:pt x="5452664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441178" y="-2556987"/>
            <a:ext cx="5452664" cy="5295900"/>
          </a:xfrm>
          <a:custGeom>
            <a:avLst/>
            <a:gdLst/>
            <a:ahLst/>
            <a:cxnLst/>
            <a:rect l="l" t="t" r="r" b="b"/>
            <a:pathLst>
              <a:path w="5452664" h="5295900">
                <a:moveTo>
                  <a:pt x="0" y="0"/>
                </a:moveTo>
                <a:lnTo>
                  <a:pt x="5452665" y="0"/>
                </a:lnTo>
                <a:lnTo>
                  <a:pt x="5452665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146129" y="3262887"/>
            <a:ext cx="7453875" cy="6585864"/>
          </a:xfrm>
          <a:custGeom>
            <a:avLst/>
            <a:gdLst/>
            <a:ahLst/>
            <a:cxnLst/>
            <a:rect l="l" t="t" r="r" b="b"/>
            <a:pathLst>
              <a:path w="7453875" h="6585864">
                <a:moveTo>
                  <a:pt x="0" y="0"/>
                </a:moveTo>
                <a:lnTo>
                  <a:pt x="7453875" y="0"/>
                </a:lnTo>
                <a:lnTo>
                  <a:pt x="7453875" y="6585864"/>
                </a:lnTo>
                <a:lnTo>
                  <a:pt x="0" y="65858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093" r="-5093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876939" y="433030"/>
            <a:ext cx="12673088" cy="1028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80"/>
              </a:lnSpc>
            </a:pPr>
            <a:r>
              <a:rPr lang="en-US" sz="6060" b="1">
                <a:solidFill>
                  <a:srgbClr val="0B0C23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Home Screen</a:t>
            </a:r>
            <a:endParaRPr lang="en-US" sz="6060" b="1">
              <a:solidFill>
                <a:srgbClr val="0B0C23"/>
              </a:solidFill>
              <a:latin typeface="Museo Moderno Medium"/>
              <a:ea typeface="Museo Moderno Medium"/>
              <a:cs typeface="Museo Moderno Medium"/>
              <a:sym typeface="Museo Moderno Mediu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96461" y="4484131"/>
            <a:ext cx="9049668" cy="343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0" lvl="1" indent="-313055" algn="l">
              <a:lnSpc>
                <a:spcPts val="3480"/>
              </a:lnSpc>
              <a:buFont typeface="Arial" panose="020B0604020202020204"/>
              <a:buChar char="•"/>
            </a:pPr>
            <a:r>
              <a:rPr lang="en-US" sz="2900">
                <a:solidFill>
                  <a:srgbClr val="FFFFFF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rPr>
              <a:t>Pie charts provide a quick overview of data distribution</a:t>
            </a:r>
            <a:endParaRPr lang="en-US" sz="2900">
              <a:solidFill>
                <a:srgbClr val="FFFFFF"/>
              </a:solidFill>
              <a:latin typeface="ABeeZee Bold" panose="02000000000000000000"/>
              <a:ea typeface="ABeeZee Bold" panose="02000000000000000000"/>
              <a:cs typeface="ABeeZee Bold" panose="02000000000000000000"/>
              <a:sym typeface="ABeeZee Bold" panose="02000000000000000000"/>
            </a:endParaRPr>
          </a:p>
          <a:p>
            <a:pPr marL="626110" lvl="1" indent="-313055" algn="l">
              <a:lnSpc>
                <a:spcPts val="3480"/>
              </a:lnSpc>
              <a:buFont typeface="Arial" panose="020B0604020202020204"/>
              <a:buChar char="•"/>
            </a:pPr>
            <a:r>
              <a:rPr lang="en-US" sz="2900">
                <a:solidFill>
                  <a:srgbClr val="FFFFFF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rPr>
              <a:t>It allows users to see how different file types are using disk space.</a:t>
            </a:r>
            <a:endParaRPr lang="en-US" sz="2900">
              <a:solidFill>
                <a:srgbClr val="FFFFFF"/>
              </a:solidFill>
              <a:latin typeface="ABeeZee Bold" panose="02000000000000000000"/>
              <a:ea typeface="ABeeZee Bold" panose="02000000000000000000"/>
              <a:cs typeface="ABeeZee Bold" panose="02000000000000000000"/>
              <a:sym typeface="ABeeZee Bold" panose="02000000000000000000"/>
            </a:endParaRPr>
          </a:p>
          <a:p>
            <a:pPr marL="626110" lvl="1" indent="-313055" algn="l">
              <a:lnSpc>
                <a:spcPts val="3480"/>
              </a:lnSpc>
              <a:buFont typeface="Arial" panose="020B0604020202020204"/>
              <a:buChar char="•"/>
            </a:pPr>
            <a:r>
              <a:rPr lang="en-US" sz="2900">
                <a:solidFill>
                  <a:srgbClr val="FFFFFF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rPr>
              <a:t>Very user friendly easy to understand, even for non-technical users</a:t>
            </a:r>
            <a:endParaRPr lang="en-US" sz="2900">
              <a:solidFill>
                <a:srgbClr val="FFFFFF"/>
              </a:solidFill>
              <a:latin typeface="ABeeZee Bold" panose="02000000000000000000"/>
              <a:ea typeface="ABeeZee Bold" panose="02000000000000000000"/>
              <a:cs typeface="ABeeZee Bold" panose="02000000000000000000"/>
              <a:sym typeface="ABeeZee Bold" panose="02000000000000000000"/>
            </a:endParaRPr>
          </a:p>
          <a:p>
            <a:pPr marL="626110" lvl="1" indent="-313055" algn="l">
              <a:lnSpc>
                <a:spcPts val="3480"/>
              </a:lnSpc>
              <a:buFont typeface="Arial" panose="020B0604020202020204"/>
              <a:buChar char="•"/>
            </a:pPr>
            <a:r>
              <a:rPr lang="en-US" sz="2900">
                <a:solidFill>
                  <a:srgbClr val="FFFFFF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rPr>
              <a:t>Useful for identifying dominant file types</a:t>
            </a:r>
            <a:endParaRPr lang="en-US" sz="2900">
              <a:solidFill>
                <a:srgbClr val="FFFFFF"/>
              </a:solidFill>
              <a:latin typeface="ABeeZee Bold" panose="02000000000000000000"/>
              <a:ea typeface="ABeeZee Bold" panose="02000000000000000000"/>
              <a:cs typeface="ABeeZee Bold" panose="02000000000000000000"/>
              <a:sym typeface="ABeeZee Bold" panose="02000000000000000000"/>
            </a:endParaRPr>
          </a:p>
          <a:p>
            <a:pPr algn="l">
              <a:lnSpc>
                <a:spcPts val="288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76939" y="1442787"/>
            <a:ext cx="13953943" cy="944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80"/>
              </a:lnSpc>
            </a:pPr>
            <a:r>
              <a:rPr lang="en-US" sz="5560" b="1">
                <a:solidFill>
                  <a:srgbClr val="4792F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MetaTrackr – File Metadata Analyzer</a:t>
            </a:r>
            <a:endParaRPr lang="en-US" sz="5560" b="1">
              <a:solidFill>
                <a:srgbClr val="4792FF"/>
              </a:solidFill>
              <a:latin typeface="Museo Moderno Medium"/>
              <a:ea typeface="Museo Moderno Medium"/>
              <a:cs typeface="Museo Moderno Medium"/>
              <a:sym typeface="Museo Moderno Medium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1028700" y="2824638"/>
            <a:ext cx="16230600" cy="7462362"/>
            <a:chOff x="0" y="0"/>
            <a:chExt cx="4274726" cy="19653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1965396"/>
            </a:xfrm>
            <a:custGeom>
              <a:avLst/>
              <a:gdLst/>
              <a:ahLst/>
              <a:cxnLst/>
              <a:rect l="l" t="t" r="r" b="b"/>
              <a:pathLst>
                <a:path w="4274726" h="1965396">
                  <a:moveTo>
                    <a:pt x="31482" y="0"/>
                  </a:moveTo>
                  <a:lnTo>
                    <a:pt x="4243244" y="0"/>
                  </a:lnTo>
                  <a:cubicBezTo>
                    <a:pt x="4260631" y="0"/>
                    <a:pt x="4274726" y="14095"/>
                    <a:pt x="4274726" y="31482"/>
                  </a:cubicBezTo>
                  <a:lnTo>
                    <a:pt x="4274726" y="1933914"/>
                  </a:lnTo>
                  <a:cubicBezTo>
                    <a:pt x="4274726" y="1942264"/>
                    <a:pt x="4271409" y="1950271"/>
                    <a:pt x="4265505" y="1956175"/>
                  </a:cubicBezTo>
                  <a:cubicBezTo>
                    <a:pt x="4259601" y="1962079"/>
                    <a:pt x="4251594" y="1965396"/>
                    <a:pt x="4243244" y="1965396"/>
                  </a:cubicBezTo>
                  <a:lnTo>
                    <a:pt x="31482" y="1965396"/>
                  </a:lnTo>
                  <a:cubicBezTo>
                    <a:pt x="14095" y="1965396"/>
                    <a:pt x="0" y="1951301"/>
                    <a:pt x="0" y="1933914"/>
                  </a:cubicBezTo>
                  <a:lnTo>
                    <a:pt x="0" y="31482"/>
                  </a:lnTo>
                  <a:cubicBezTo>
                    <a:pt x="0" y="14095"/>
                    <a:pt x="14095" y="0"/>
                    <a:pt x="31482" y="0"/>
                  </a:cubicBezTo>
                  <a:close/>
                </a:path>
              </a:pathLst>
            </a:custGeom>
            <a:solidFill>
              <a:srgbClr val="394B6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274726" cy="1993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5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-2978250" y="-1100388"/>
            <a:ext cx="5452664" cy="5295900"/>
          </a:xfrm>
          <a:custGeom>
            <a:avLst/>
            <a:gdLst/>
            <a:ahLst/>
            <a:cxnLst/>
            <a:rect l="l" t="t" r="r" b="b"/>
            <a:pathLst>
              <a:path w="5452664" h="5295900">
                <a:moveTo>
                  <a:pt x="0" y="0"/>
                </a:moveTo>
                <a:lnTo>
                  <a:pt x="5452664" y="0"/>
                </a:lnTo>
                <a:lnTo>
                  <a:pt x="5452664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441178" y="-2556987"/>
            <a:ext cx="5452664" cy="5295900"/>
          </a:xfrm>
          <a:custGeom>
            <a:avLst/>
            <a:gdLst/>
            <a:ahLst/>
            <a:cxnLst/>
            <a:rect l="l" t="t" r="r" b="b"/>
            <a:pathLst>
              <a:path w="5452664" h="5295900">
                <a:moveTo>
                  <a:pt x="0" y="0"/>
                </a:moveTo>
                <a:lnTo>
                  <a:pt x="5452665" y="0"/>
                </a:lnTo>
                <a:lnTo>
                  <a:pt x="5452665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361880" y="4631417"/>
            <a:ext cx="13564240" cy="5082170"/>
          </a:xfrm>
          <a:custGeom>
            <a:avLst/>
            <a:gdLst/>
            <a:ahLst/>
            <a:cxnLst/>
            <a:rect l="l" t="t" r="r" b="b"/>
            <a:pathLst>
              <a:path w="13564240" h="5082170">
                <a:moveTo>
                  <a:pt x="0" y="0"/>
                </a:moveTo>
                <a:lnTo>
                  <a:pt x="13564240" y="0"/>
                </a:lnTo>
                <a:lnTo>
                  <a:pt x="13564240" y="5082171"/>
                </a:lnTo>
                <a:lnTo>
                  <a:pt x="0" y="50821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000" b="-6428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273279" y="7777340"/>
            <a:ext cx="875745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FFFFFF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rPr>
              <a:t>Advance Filter</a:t>
            </a:r>
            <a:endParaRPr lang="en-US" sz="4000">
              <a:solidFill>
                <a:srgbClr val="FFFFFF"/>
              </a:solidFill>
              <a:latin typeface="ABeeZee Bold" panose="02000000000000000000"/>
              <a:ea typeface="ABeeZee Bold" panose="02000000000000000000"/>
              <a:cs typeface="ABeeZee Bold" panose="02000000000000000000"/>
              <a:sym typeface="ABeeZee Bold" panose="020000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792578" y="3585912"/>
            <a:ext cx="875745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FFFFFF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rPr>
              <a:t>Show All Files</a:t>
            </a:r>
            <a:endParaRPr lang="en-US" sz="4000">
              <a:solidFill>
                <a:srgbClr val="FFFFFF"/>
              </a:solidFill>
              <a:latin typeface="ABeeZee Bold" panose="02000000000000000000"/>
              <a:ea typeface="ABeeZee Bold" panose="02000000000000000000"/>
              <a:cs typeface="ABeeZee Bold" panose="02000000000000000000"/>
              <a:sym typeface="ABeeZee Bold" panose="0200000000000000000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76939" y="1442787"/>
            <a:ext cx="13953943" cy="944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80"/>
              </a:lnSpc>
            </a:pPr>
            <a:r>
              <a:rPr lang="en-US" sz="5560" b="1">
                <a:solidFill>
                  <a:srgbClr val="4792F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MetaTrackr – File Metadata Analyzer</a:t>
            </a:r>
            <a:endParaRPr lang="en-US" sz="5560" b="1">
              <a:solidFill>
                <a:srgbClr val="4792FF"/>
              </a:solidFill>
              <a:latin typeface="Museo Moderno Medium"/>
              <a:ea typeface="Museo Moderno Medium"/>
              <a:cs typeface="Museo Moderno Medium"/>
              <a:sym typeface="Museo Moderno Medium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1028700" y="2824638"/>
            <a:ext cx="16230600" cy="7462362"/>
            <a:chOff x="0" y="0"/>
            <a:chExt cx="4274726" cy="19653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1965396"/>
            </a:xfrm>
            <a:custGeom>
              <a:avLst/>
              <a:gdLst/>
              <a:ahLst/>
              <a:cxnLst/>
              <a:rect l="l" t="t" r="r" b="b"/>
              <a:pathLst>
                <a:path w="4274726" h="1965396">
                  <a:moveTo>
                    <a:pt x="31482" y="0"/>
                  </a:moveTo>
                  <a:lnTo>
                    <a:pt x="4243244" y="0"/>
                  </a:lnTo>
                  <a:cubicBezTo>
                    <a:pt x="4260631" y="0"/>
                    <a:pt x="4274726" y="14095"/>
                    <a:pt x="4274726" y="31482"/>
                  </a:cubicBezTo>
                  <a:lnTo>
                    <a:pt x="4274726" y="1933914"/>
                  </a:lnTo>
                  <a:cubicBezTo>
                    <a:pt x="4274726" y="1942264"/>
                    <a:pt x="4271409" y="1950271"/>
                    <a:pt x="4265505" y="1956175"/>
                  </a:cubicBezTo>
                  <a:cubicBezTo>
                    <a:pt x="4259601" y="1962079"/>
                    <a:pt x="4251594" y="1965396"/>
                    <a:pt x="4243244" y="1965396"/>
                  </a:cubicBezTo>
                  <a:lnTo>
                    <a:pt x="31482" y="1965396"/>
                  </a:lnTo>
                  <a:cubicBezTo>
                    <a:pt x="14095" y="1965396"/>
                    <a:pt x="0" y="1951301"/>
                    <a:pt x="0" y="1933914"/>
                  </a:cubicBezTo>
                  <a:lnTo>
                    <a:pt x="0" y="31482"/>
                  </a:lnTo>
                  <a:cubicBezTo>
                    <a:pt x="0" y="14095"/>
                    <a:pt x="14095" y="0"/>
                    <a:pt x="31482" y="0"/>
                  </a:cubicBezTo>
                  <a:close/>
                </a:path>
              </a:pathLst>
            </a:custGeom>
            <a:solidFill>
              <a:srgbClr val="394B6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274726" cy="1993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5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-2978250" y="-1100388"/>
            <a:ext cx="5452664" cy="5295900"/>
          </a:xfrm>
          <a:custGeom>
            <a:avLst/>
            <a:gdLst/>
            <a:ahLst/>
            <a:cxnLst/>
            <a:rect l="l" t="t" r="r" b="b"/>
            <a:pathLst>
              <a:path w="5452664" h="5295900">
                <a:moveTo>
                  <a:pt x="0" y="0"/>
                </a:moveTo>
                <a:lnTo>
                  <a:pt x="5452664" y="0"/>
                </a:lnTo>
                <a:lnTo>
                  <a:pt x="5452664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441178" y="-2556987"/>
            <a:ext cx="5452664" cy="5295900"/>
          </a:xfrm>
          <a:custGeom>
            <a:avLst/>
            <a:gdLst/>
            <a:ahLst/>
            <a:cxnLst/>
            <a:rect l="l" t="t" r="r" b="b"/>
            <a:pathLst>
              <a:path w="5452664" h="5295900">
                <a:moveTo>
                  <a:pt x="0" y="0"/>
                </a:moveTo>
                <a:lnTo>
                  <a:pt x="5452665" y="0"/>
                </a:lnTo>
                <a:lnTo>
                  <a:pt x="5452665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198825" y="4281237"/>
            <a:ext cx="6285690" cy="5348842"/>
          </a:xfrm>
          <a:custGeom>
            <a:avLst/>
            <a:gdLst/>
            <a:ahLst/>
            <a:cxnLst/>
            <a:rect l="l" t="t" r="r" b="b"/>
            <a:pathLst>
              <a:path w="6285690" h="5348842">
                <a:moveTo>
                  <a:pt x="0" y="0"/>
                </a:moveTo>
                <a:lnTo>
                  <a:pt x="6285690" y="0"/>
                </a:lnTo>
                <a:lnTo>
                  <a:pt x="6285690" y="5348842"/>
                </a:lnTo>
                <a:lnTo>
                  <a:pt x="0" y="53488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126" b="-2126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273279" y="3329538"/>
            <a:ext cx="875745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FFFFFF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rPr>
              <a:t>Advance Filter</a:t>
            </a:r>
            <a:endParaRPr lang="en-US" sz="4000">
              <a:solidFill>
                <a:srgbClr val="FFFFFF"/>
              </a:solidFill>
              <a:latin typeface="ABeeZee Bold" panose="02000000000000000000"/>
              <a:ea typeface="ABeeZee Bold" panose="02000000000000000000"/>
              <a:cs typeface="ABeeZee Bold" panose="02000000000000000000"/>
              <a:sym typeface="ABeeZee Bold" panose="0200000000000000000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76939" y="1442787"/>
            <a:ext cx="13953943" cy="944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80"/>
              </a:lnSpc>
            </a:pPr>
            <a:r>
              <a:rPr lang="en-US" sz="5560" b="1">
                <a:solidFill>
                  <a:srgbClr val="4792F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MetaTrackr – File Metadata Analyzer</a:t>
            </a:r>
            <a:endParaRPr lang="en-US" sz="5560" b="1">
              <a:solidFill>
                <a:srgbClr val="4792FF"/>
              </a:solidFill>
              <a:latin typeface="Museo Moderno Medium"/>
              <a:ea typeface="Museo Moderno Medium"/>
              <a:cs typeface="Museo Moderno Medium"/>
              <a:sym typeface="Museo Moderno Medium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1028700" y="2824638"/>
            <a:ext cx="16230600" cy="7462362"/>
            <a:chOff x="0" y="0"/>
            <a:chExt cx="4274726" cy="19653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1965396"/>
            </a:xfrm>
            <a:custGeom>
              <a:avLst/>
              <a:gdLst/>
              <a:ahLst/>
              <a:cxnLst/>
              <a:rect l="l" t="t" r="r" b="b"/>
              <a:pathLst>
                <a:path w="4274726" h="1965396">
                  <a:moveTo>
                    <a:pt x="31482" y="0"/>
                  </a:moveTo>
                  <a:lnTo>
                    <a:pt x="4243244" y="0"/>
                  </a:lnTo>
                  <a:cubicBezTo>
                    <a:pt x="4260631" y="0"/>
                    <a:pt x="4274726" y="14095"/>
                    <a:pt x="4274726" y="31482"/>
                  </a:cubicBezTo>
                  <a:lnTo>
                    <a:pt x="4274726" y="1933914"/>
                  </a:lnTo>
                  <a:cubicBezTo>
                    <a:pt x="4274726" y="1942264"/>
                    <a:pt x="4271409" y="1950271"/>
                    <a:pt x="4265505" y="1956175"/>
                  </a:cubicBezTo>
                  <a:cubicBezTo>
                    <a:pt x="4259601" y="1962079"/>
                    <a:pt x="4251594" y="1965396"/>
                    <a:pt x="4243244" y="1965396"/>
                  </a:cubicBezTo>
                  <a:lnTo>
                    <a:pt x="31482" y="1965396"/>
                  </a:lnTo>
                  <a:cubicBezTo>
                    <a:pt x="14095" y="1965396"/>
                    <a:pt x="0" y="1951301"/>
                    <a:pt x="0" y="1933914"/>
                  </a:cubicBezTo>
                  <a:lnTo>
                    <a:pt x="0" y="31482"/>
                  </a:lnTo>
                  <a:cubicBezTo>
                    <a:pt x="0" y="14095"/>
                    <a:pt x="14095" y="0"/>
                    <a:pt x="31482" y="0"/>
                  </a:cubicBezTo>
                  <a:close/>
                </a:path>
              </a:pathLst>
            </a:custGeom>
            <a:solidFill>
              <a:srgbClr val="394B6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274726" cy="1993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5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-2978250" y="-1100388"/>
            <a:ext cx="5452664" cy="5295900"/>
          </a:xfrm>
          <a:custGeom>
            <a:avLst/>
            <a:gdLst/>
            <a:ahLst/>
            <a:cxnLst/>
            <a:rect l="l" t="t" r="r" b="b"/>
            <a:pathLst>
              <a:path w="5452664" h="5295900">
                <a:moveTo>
                  <a:pt x="0" y="0"/>
                </a:moveTo>
                <a:lnTo>
                  <a:pt x="5452664" y="0"/>
                </a:lnTo>
                <a:lnTo>
                  <a:pt x="5452664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441178" y="-2556987"/>
            <a:ext cx="5452664" cy="5295900"/>
          </a:xfrm>
          <a:custGeom>
            <a:avLst/>
            <a:gdLst/>
            <a:ahLst/>
            <a:cxnLst/>
            <a:rect l="l" t="t" r="r" b="b"/>
            <a:pathLst>
              <a:path w="5452664" h="5295900">
                <a:moveTo>
                  <a:pt x="0" y="0"/>
                </a:moveTo>
                <a:lnTo>
                  <a:pt x="5452665" y="0"/>
                </a:lnTo>
                <a:lnTo>
                  <a:pt x="5452665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205709" y="4601705"/>
            <a:ext cx="7876583" cy="4993191"/>
          </a:xfrm>
          <a:custGeom>
            <a:avLst/>
            <a:gdLst/>
            <a:ahLst/>
            <a:cxnLst/>
            <a:rect l="l" t="t" r="r" b="b"/>
            <a:pathLst>
              <a:path w="7876583" h="4993191">
                <a:moveTo>
                  <a:pt x="0" y="0"/>
                </a:moveTo>
                <a:lnTo>
                  <a:pt x="7876582" y="0"/>
                </a:lnTo>
                <a:lnTo>
                  <a:pt x="7876582" y="4993190"/>
                </a:lnTo>
                <a:lnTo>
                  <a:pt x="0" y="49931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792578" y="3585912"/>
            <a:ext cx="875745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FFFFFF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rPr>
              <a:t>Export To CSV</a:t>
            </a:r>
            <a:endParaRPr lang="en-US" sz="4000">
              <a:solidFill>
                <a:srgbClr val="FFFFFF"/>
              </a:solidFill>
              <a:latin typeface="ABeeZee Bold" panose="02000000000000000000"/>
              <a:ea typeface="ABeeZee Bold" panose="02000000000000000000"/>
              <a:cs typeface="ABeeZee Bold" panose="02000000000000000000"/>
              <a:sym typeface="ABeeZee Bold" panose="0200000000000000000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602210"/>
            <a:ext cx="8346715" cy="6532265"/>
          </a:xfrm>
          <a:custGeom>
            <a:avLst/>
            <a:gdLst/>
            <a:ahLst/>
            <a:cxnLst/>
            <a:rect l="l" t="t" r="r" b="b"/>
            <a:pathLst>
              <a:path w="8346715" h="6532265">
                <a:moveTo>
                  <a:pt x="0" y="0"/>
                </a:moveTo>
                <a:lnTo>
                  <a:pt x="8346715" y="0"/>
                </a:lnTo>
                <a:lnTo>
                  <a:pt x="8346715" y="6532265"/>
                </a:lnTo>
                <a:lnTo>
                  <a:pt x="0" y="6532265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5184" b="-35184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9013355" y="4162126"/>
            <a:ext cx="8459114" cy="5096174"/>
            <a:chOff x="0" y="0"/>
            <a:chExt cx="2429990" cy="146394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29990" cy="1463942"/>
            </a:xfrm>
            <a:custGeom>
              <a:avLst/>
              <a:gdLst/>
              <a:ahLst/>
              <a:cxnLst/>
              <a:rect l="l" t="t" r="r" b="b"/>
              <a:pathLst>
                <a:path w="2429990" h="1463942">
                  <a:moveTo>
                    <a:pt x="0" y="0"/>
                  </a:moveTo>
                  <a:lnTo>
                    <a:pt x="2429990" y="0"/>
                  </a:lnTo>
                  <a:lnTo>
                    <a:pt x="2429990" y="1463942"/>
                  </a:lnTo>
                  <a:lnTo>
                    <a:pt x="0" y="1463942"/>
                  </a:lnTo>
                  <a:close/>
                </a:path>
              </a:pathLst>
            </a:custGeom>
            <a:solidFill>
              <a:srgbClr val="394B6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429990" cy="14925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5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9013355" y="2979396"/>
            <a:ext cx="8459114" cy="833112"/>
            <a:chOff x="0" y="0"/>
            <a:chExt cx="2429990" cy="2393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29990" cy="239322"/>
            </a:xfrm>
            <a:custGeom>
              <a:avLst/>
              <a:gdLst/>
              <a:ahLst/>
              <a:cxnLst/>
              <a:rect l="l" t="t" r="r" b="b"/>
              <a:pathLst>
                <a:path w="2429990" h="239322">
                  <a:moveTo>
                    <a:pt x="0" y="0"/>
                  </a:moveTo>
                  <a:lnTo>
                    <a:pt x="2429990" y="0"/>
                  </a:lnTo>
                  <a:lnTo>
                    <a:pt x="2429990" y="239322"/>
                  </a:lnTo>
                  <a:lnTo>
                    <a:pt x="0" y="239322"/>
                  </a:lnTo>
                  <a:close/>
                </a:path>
              </a:pathLst>
            </a:custGeom>
            <a:solidFill>
              <a:srgbClr val="394B6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429990" cy="2678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5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013355" y="4622133"/>
            <a:ext cx="8759717" cy="2687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0" lvl="1" indent="-248285" algn="l">
              <a:lnSpc>
                <a:spcPts val="3035"/>
              </a:lnSpc>
              <a:buFont typeface="Arial" panose="020B0604020202020204"/>
              <a:buChar char="•"/>
            </a:pPr>
            <a:r>
              <a:rPr lang="en-US" sz="2300">
                <a:solidFill>
                  <a:srgbClr val="FFFFFF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rPr>
              <a:t>Tkinter – GUI development for the desktop application</a:t>
            </a:r>
            <a:endParaRPr lang="en-US" sz="2300">
              <a:solidFill>
                <a:srgbClr val="FFFFFF"/>
              </a:solidFill>
              <a:latin typeface="ABeeZee Bold" panose="02000000000000000000"/>
              <a:ea typeface="ABeeZee Bold" panose="02000000000000000000"/>
              <a:cs typeface="ABeeZee Bold" panose="02000000000000000000"/>
              <a:sym typeface="ABeeZee Bold" panose="02000000000000000000"/>
            </a:endParaRPr>
          </a:p>
          <a:p>
            <a:pPr marL="496570" lvl="1" indent="-248285" algn="l">
              <a:lnSpc>
                <a:spcPts val="3035"/>
              </a:lnSpc>
              <a:buFont typeface="Arial" panose="020B0604020202020204"/>
              <a:buChar char="•"/>
            </a:pPr>
            <a:r>
              <a:rPr lang="en-US" sz="2300">
                <a:solidFill>
                  <a:srgbClr val="FFFFFF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rPr>
              <a:t>os – Folder selection and file metadata extraction</a:t>
            </a:r>
            <a:endParaRPr lang="en-US" sz="2300">
              <a:solidFill>
                <a:srgbClr val="FFFFFF"/>
              </a:solidFill>
              <a:latin typeface="ABeeZee Bold" panose="02000000000000000000"/>
              <a:ea typeface="ABeeZee Bold" panose="02000000000000000000"/>
              <a:cs typeface="ABeeZee Bold" panose="02000000000000000000"/>
              <a:sym typeface="ABeeZee Bold" panose="02000000000000000000"/>
            </a:endParaRPr>
          </a:p>
          <a:p>
            <a:pPr marL="496570" lvl="1" indent="-248285" algn="l">
              <a:lnSpc>
                <a:spcPts val="3035"/>
              </a:lnSpc>
              <a:buFont typeface="Arial" panose="020B0604020202020204"/>
              <a:buChar char="•"/>
            </a:pPr>
            <a:r>
              <a:rPr lang="en-US" sz="2300">
                <a:solidFill>
                  <a:srgbClr val="FFFFFF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rPr>
              <a:t>collections.Counter – Counting and grouping file types</a:t>
            </a:r>
            <a:endParaRPr lang="en-US" sz="2300">
              <a:solidFill>
                <a:srgbClr val="FFFFFF"/>
              </a:solidFill>
              <a:latin typeface="ABeeZee Bold" panose="02000000000000000000"/>
              <a:ea typeface="ABeeZee Bold" panose="02000000000000000000"/>
              <a:cs typeface="ABeeZee Bold" panose="02000000000000000000"/>
              <a:sym typeface="ABeeZee Bold" panose="02000000000000000000"/>
            </a:endParaRPr>
          </a:p>
          <a:p>
            <a:pPr marL="496570" lvl="1" indent="-248285" algn="l">
              <a:lnSpc>
                <a:spcPts val="3035"/>
              </a:lnSpc>
              <a:buFont typeface="Arial" panose="020B0604020202020204"/>
              <a:buChar char="•"/>
            </a:pPr>
            <a:r>
              <a:rPr lang="en-US" sz="2300">
                <a:solidFill>
                  <a:srgbClr val="FFFFFF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rPr>
              <a:t>matplotlib – Creating and displaying pie charts</a:t>
            </a:r>
            <a:endParaRPr lang="en-US" sz="2300">
              <a:solidFill>
                <a:srgbClr val="FFFFFF"/>
              </a:solidFill>
              <a:latin typeface="ABeeZee Bold" panose="02000000000000000000"/>
              <a:ea typeface="ABeeZee Bold" panose="02000000000000000000"/>
              <a:cs typeface="ABeeZee Bold" panose="02000000000000000000"/>
              <a:sym typeface="ABeeZee Bold" panose="02000000000000000000"/>
            </a:endParaRPr>
          </a:p>
          <a:p>
            <a:pPr marL="496570" lvl="1" indent="-248285" algn="l">
              <a:lnSpc>
                <a:spcPts val="3035"/>
              </a:lnSpc>
              <a:buFont typeface="Arial" panose="020B0604020202020204"/>
              <a:buChar char="•"/>
            </a:pPr>
            <a:r>
              <a:rPr lang="en-US" sz="2300">
                <a:solidFill>
                  <a:srgbClr val="FFFFFF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rPr>
              <a:t>datetime – Handling file creation and modification dates</a:t>
            </a:r>
            <a:endParaRPr lang="en-US" sz="2300">
              <a:solidFill>
                <a:srgbClr val="FFFFFF"/>
              </a:solidFill>
              <a:latin typeface="ABeeZee Bold" panose="02000000000000000000"/>
              <a:ea typeface="ABeeZee Bold" panose="02000000000000000000"/>
              <a:cs typeface="ABeeZee Bold" panose="02000000000000000000"/>
              <a:sym typeface="ABeeZee Bold" panose="02000000000000000000"/>
            </a:endParaRPr>
          </a:p>
          <a:p>
            <a:pPr marL="496570" lvl="1" indent="-248285" algn="l">
              <a:lnSpc>
                <a:spcPts val="3035"/>
              </a:lnSpc>
              <a:buFont typeface="Arial" panose="020B0604020202020204"/>
              <a:buChar char="•"/>
            </a:pPr>
            <a:r>
              <a:rPr lang="en-US" sz="2300">
                <a:solidFill>
                  <a:srgbClr val="FFFFFF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rPr>
              <a:t>pandas – Exporting data to CSV</a:t>
            </a:r>
            <a:endParaRPr lang="en-US" sz="2300">
              <a:solidFill>
                <a:srgbClr val="FFFFFF"/>
              </a:solidFill>
              <a:latin typeface="ABeeZee Bold" panose="02000000000000000000"/>
              <a:ea typeface="ABeeZee Bold" panose="02000000000000000000"/>
              <a:cs typeface="ABeeZee Bold" panose="02000000000000000000"/>
              <a:sym typeface="ABeeZee Bold" panose="02000000000000000000"/>
            </a:endParaRPr>
          </a:p>
          <a:p>
            <a:pPr algn="l">
              <a:lnSpc>
                <a:spcPts val="3300"/>
              </a:lnSpc>
            </a:pPr>
          </a:p>
        </p:txBody>
      </p:sp>
      <p:sp>
        <p:nvSpPr>
          <p:cNvPr id="10" name="Freeform 10"/>
          <p:cNvSpPr/>
          <p:nvPr/>
        </p:nvSpPr>
        <p:spPr>
          <a:xfrm>
            <a:off x="-2977918" y="-1100388"/>
            <a:ext cx="5452664" cy="5295900"/>
          </a:xfrm>
          <a:custGeom>
            <a:avLst/>
            <a:gdLst/>
            <a:ahLst/>
            <a:cxnLst/>
            <a:rect l="l" t="t" r="r" b="b"/>
            <a:pathLst>
              <a:path w="5452664" h="5295900">
                <a:moveTo>
                  <a:pt x="0" y="0"/>
                </a:moveTo>
                <a:lnTo>
                  <a:pt x="5452664" y="0"/>
                </a:lnTo>
                <a:lnTo>
                  <a:pt x="5452664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901169" y="5623800"/>
            <a:ext cx="5452664" cy="5295900"/>
          </a:xfrm>
          <a:custGeom>
            <a:avLst/>
            <a:gdLst/>
            <a:ahLst/>
            <a:cxnLst/>
            <a:rect l="l" t="t" r="r" b="b"/>
            <a:pathLst>
              <a:path w="5452664" h="5295900">
                <a:moveTo>
                  <a:pt x="0" y="0"/>
                </a:moveTo>
                <a:lnTo>
                  <a:pt x="5452664" y="0"/>
                </a:lnTo>
                <a:lnTo>
                  <a:pt x="5452664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362051" y="3046369"/>
            <a:ext cx="539119" cy="536178"/>
          </a:xfrm>
          <a:custGeom>
            <a:avLst/>
            <a:gdLst/>
            <a:ahLst/>
            <a:cxnLst/>
            <a:rect l="l" t="t" r="r" b="b"/>
            <a:pathLst>
              <a:path w="539119" h="536178">
                <a:moveTo>
                  <a:pt x="0" y="0"/>
                </a:moveTo>
                <a:lnTo>
                  <a:pt x="539118" y="0"/>
                </a:lnTo>
                <a:lnTo>
                  <a:pt x="539118" y="536178"/>
                </a:lnTo>
                <a:lnTo>
                  <a:pt x="0" y="5361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589279" y="1556182"/>
            <a:ext cx="11109443" cy="846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30"/>
              </a:lnSpc>
            </a:pPr>
            <a:r>
              <a:rPr lang="en-US" sz="5410" b="1">
                <a:solidFill>
                  <a:srgbClr val="4792F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Tech Stack</a:t>
            </a:r>
            <a:endParaRPr lang="en-US" sz="5410" b="1">
              <a:solidFill>
                <a:srgbClr val="4792FF"/>
              </a:solidFill>
              <a:latin typeface="Museo Moderno Medium"/>
              <a:ea typeface="Museo Moderno Medium"/>
              <a:cs typeface="Museo Moderno Medium"/>
              <a:sym typeface="Museo Moderno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271864" y="3208024"/>
            <a:ext cx="5426858" cy="374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300">
                <a:solidFill>
                  <a:srgbClr val="FFFFFF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rPr>
              <a:t>Language: Python</a:t>
            </a:r>
            <a:endParaRPr lang="en-US" sz="2300">
              <a:solidFill>
                <a:srgbClr val="FFFFFF"/>
              </a:solidFill>
              <a:latin typeface="ABeeZee Bold" panose="02000000000000000000"/>
              <a:ea typeface="ABeeZee Bold" panose="02000000000000000000"/>
              <a:cs typeface="ABeeZee Bold" panose="02000000000000000000"/>
              <a:sym typeface="ABeeZee Bold" panose="0200000000000000000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977918" y="-1100388"/>
            <a:ext cx="5452664" cy="5295900"/>
          </a:xfrm>
          <a:custGeom>
            <a:avLst/>
            <a:gdLst/>
            <a:ahLst/>
            <a:cxnLst/>
            <a:rect l="l" t="t" r="r" b="b"/>
            <a:pathLst>
              <a:path w="5452664" h="5295900">
                <a:moveTo>
                  <a:pt x="0" y="0"/>
                </a:moveTo>
                <a:lnTo>
                  <a:pt x="5452664" y="0"/>
                </a:lnTo>
                <a:lnTo>
                  <a:pt x="5452664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901169" y="5623800"/>
            <a:ext cx="5452664" cy="5295900"/>
          </a:xfrm>
          <a:custGeom>
            <a:avLst/>
            <a:gdLst/>
            <a:ahLst/>
            <a:cxnLst/>
            <a:rect l="l" t="t" r="r" b="b"/>
            <a:pathLst>
              <a:path w="5452664" h="5295900">
                <a:moveTo>
                  <a:pt x="0" y="0"/>
                </a:moveTo>
                <a:lnTo>
                  <a:pt x="5452664" y="0"/>
                </a:lnTo>
                <a:lnTo>
                  <a:pt x="5452664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132585" y="5623800"/>
            <a:ext cx="5452664" cy="5295900"/>
          </a:xfrm>
          <a:custGeom>
            <a:avLst/>
            <a:gdLst/>
            <a:ahLst/>
            <a:cxnLst/>
            <a:rect l="l" t="t" r="r" b="b"/>
            <a:pathLst>
              <a:path w="5452664" h="5295900">
                <a:moveTo>
                  <a:pt x="0" y="0"/>
                </a:moveTo>
                <a:lnTo>
                  <a:pt x="5452664" y="0"/>
                </a:lnTo>
                <a:lnTo>
                  <a:pt x="5452664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2709696" y="2344920"/>
            <a:ext cx="14191473" cy="6532265"/>
            <a:chOff x="0" y="0"/>
            <a:chExt cx="3833529" cy="176455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33529" cy="1764554"/>
            </a:xfrm>
            <a:custGeom>
              <a:avLst/>
              <a:gdLst/>
              <a:ahLst/>
              <a:cxnLst/>
              <a:rect l="l" t="t" r="r" b="b"/>
              <a:pathLst>
                <a:path w="3833529" h="1764554">
                  <a:moveTo>
                    <a:pt x="0" y="0"/>
                  </a:moveTo>
                  <a:lnTo>
                    <a:pt x="3833529" y="0"/>
                  </a:lnTo>
                  <a:lnTo>
                    <a:pt x="3833529" y="1764554"/>
                  </a:lnTo>
                  <a:lnTo>
                    <a:pt x="0" y="1764554"/>
                  </a:lnTo>
                  <a:close/>
                </a:path>
              </a:pathLst>
            </a:custGeom>
            <a:solidFill>
              <a:srgbClr val="2D3B4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833529" cy="1793129"/>
            </a:xfrm>
            <a:prstGeom prst="rect">
              <a:avLst/>
            </a:prstGeom>
          </p:spPr>
          <p:txBody>
            <a:bodyPr lIns="54022" tIns="54022" rIns="54022" bIns="54022" rtlCol="0" anchor="ctr"/>
            <a:lstStyle/>
            <a:p>
              <a:pPr algn="ctr">
                <a:lnSpc>
                  <a:spcPts val="2445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474746" y="3153106"/>
            <a:ext cx="13905286" cy="4452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63955" lvl="1" indent="-582295" algn="l">
              <a:lnSpc>
                <a:spcPts val="7115"/>
              </a:lnSpc>
              <a:buFont typeface="Arial" panose="020B0604020202020204"/>
              <a:buChar char="•"/>
            </a:pPr>
            <a:r>
              <a:rPr lang="en-US" sz="5390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rPr>
              <a:t>Handling large folders with many files</a:t>
            </a:r>
            <a:endParaRPr lang="en-US" sz="5390">
              <a:solidFill>
                <a:srgbClr val="FFFFFF"/>
              </a:solidFill>
              <a:latin typeface="ABeeZee" panose="02000000000000000000"/>
              <a:ea typeface="ABeeZee" panose="02000000000000000000"/>
              <a:cs typeface="ABeeZee" panose="02000000000000000000"/>
              <a:sym typeface="ABeeZee" panose="02000000000000000000"/>
            </a:endParaRPr>
          </a:p>
          <a:p>
            <a:pPr marL="1163955" lvl="1" indent="-582295" algn="l">
              <a:lnSpc>
                <a:spcPts val="7115"/>
              </a:lnSpc>
              <a:buFont typeface="Arial" panose="020B0604020202020204"/>
              <a:buChar char="•"/>
            </a:pPr>
            <a:r>
              <a:rPr lang="en-US" sz="5390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rPr>
              <a:t>Dealing with file permission errors</a:t>
            </a:r>
            <a:endParaRPr lang="en-US" sz="5390">
              <a:solidFill>
                <a:srgbClr val="FFFFFF"/>
              </a:solidFill>
              <a:latin typeface="ABeeZee" panose="02000000000000000000"/>
              <a:ea typeface="ABeeZee" panose="02000000000000000000"/>
              <a:cs typeface="ABeeZee" panose="02000000000000000000"/>
              <a:sym typeface="ABeeZee" panose="02000000000000000000"/>
            </a:endParaRPr>
          </a:p>
          <a:p>
            <a:pPr marL="1163955" lvl="1" indent="-582295" algn="l">
              <a:lnSpc>
                <a:spcPts val="7115"/>
              </a:lnSpc>
              <a:buFont typeface="Arial" panose="020B0604020202020204"/>
              <a:buChar char="•"/>
            </a:pPr>
            <a:r>
              <a:rPr lang="en-US" sz="5390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rPr>
              <a:t>Maintaining GUI responsiveness during processing</a:t>
            </a:r>
            <a:endParaRPr lang="en-US" sz="5390">
              <a:solidFill>
                <a:srgbClr val="FFFFFF"/>
              </a:solidFill>
              <a:latin typeface="ABeeZee" panose="02000000000000000000"/>
              <a:ea typeface="ABeeZee" panose="02000000000000000000"/>
              <a:cs typeface="ABeeZee" panose="02000000000000000000"/>
              <a:sym typeface="ABeeZee" panose="02000000000000000000"/>
            </a:endParaRPr>
          </a:p>
          <a:p>
            <a:pPr algn="l">
              <a:lnSpc>
                <a:spcPts val="7115"/>
              </a:lnSpc>
            </a:pPr>
          </a:p>
        </p:txBody>
      </p:sp>
      <p:sp>
        <p:nvSpPr>
          <p:cNvPr id="9" name="TextBox 9"/>
          <p:cNvSpPr txBox="1"/>
          <p:nvPr/>
        </p:nvSpPr>
        <p:spPr>
          <a:xfrm>
            <a:off x="4596412" y="1096359"/>
            <a:ext cx="9095177" cy="8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35"/>
              </a:lnSpc>
            </a:pPr>
            <a:r>
              <a:rPr lang="en-US" sz="5655" b="1">
                <a:solidFill>
                  <a:srgbClr val="4792F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Challenges Faced</a:t>
            </a:r>
            <a:endParaRPr lang="en-US" sz="5655" b="1">
              <a:solidFill>
                <a:srgbClr val="4792FF"/>
              </a:solidFill>
              <a:latin typeface="Museo Moderno Medium"/>
              <a:ea typeface="Museo Moderno Medium"/>
              <a:cs typeface="Museo Moderno Medium"/>
              <a:sym typeface="Museo Moderno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977918" y="-1100388"/>
            <a:ext cx="5452664" cy="5295900"/>
          </a:xfrm>
          <a:custGeom>
            <a:avLst/>
            <a:gdLst/>
            <a:ahLst/>
            <a:cxnLst/>
            <a:rect l="l" t="t" r="r" b="b"/>
            <a:pathLst>
              <a:path w="5452664" h="5295900">
                <a:moveTo>
                  <a:pt x="0" y="0"/>
                </a:moveTo>
                <a:lnTo>
                  <a:pt x="5452664" y="0"/>
                </a:lnTo>
                <a:lnTo>
                  <a:pt x="5452664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901169" y="5623800"/>
            <a:ext cx="5452664" cy="5295900"/>
          </a:xfrm>
          <a:custGeom>
            <a:avLst/>
            <a:gdLst/>
            <a:ahLst/>
            <a:cxnLst/>
            <a:rect l="l" t="t" r="r" b="b"/>
            <a:pathLst>
              <a:path w="5452664" h="5295900">
                <a:moveTo>
                  <a:pt x="0" y="0"/>
                </a:moveTo>
                <a:lnTo>
                  <a:pt x="5452664" y="0"/>
                </a:lnTo>
                <a:lnTo>
                  <a:pt x="5452664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132585" y="5623800"/>
            <a:ext cx="5452664" cy="5295900"/>
          </a:xfrm>
          <a:custGeom>
            <a:avLst/>
            <a:gdLst/>
            <a:ahLst/>
            <a:cxnLst/>
            <a:rect l="l" t="t" r="r" b="b"/>
            <a:pathLst>
              <a:path w="5452664" h="5295900">
                <a:moveTo>
                  <a:pt x="0" y="0"/>
                </a:moveTo>
                <a:lnTo>
                  <a:pt x="5452664" y="0"/>
                </a:lnTo>
                <a:lnTo>
                  <a:pt x="5452664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2709696" y="2344920"/>
            <a:ext cx="14191473" cy="6532265"/>
            <a:chOff x="0" y="0"/>
            <a:chExt cx="3833529" cy="176455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33529" cy="1764554"/>
            </a:xfrm>
            <a:custGeom>
              <a:avLst/>
              <a:gdLst/>
              <a:ahLst/>
              <a:cxnLst/>
              <a:rect l="l" t="t" r="r" b="b"/>
              <a:pathLst>
                <a:path w="3833529" h="1764554">
                  <a:moveTo>
                    <a:pt x="0" y="0"/>
                  </a:moveTo>
                  <a:lnTo>
                    <a:pt x="3833529" y="0"/>
                  </a:lnTo>
                  <a:lnTo>
                    <a:pt x="3833529" y="1764554"/>
                  </a:lnTo>
                  <a:lnTo>
                    <a:pt x="0" y="1764554"/>
                  </a:lnTo>
                  <a:close/>
                </a:path>
              </a:pathLst>
            </a:custGeom>
            <a:solidFill>
              <a:srgbClr val="2D3B4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833529" cy="1793129"/>
            </a:xfrm>
            <a:prstGeom prst="rect">
              <a:avLst/>
            </a:prstGeom>
          </p:spPr>
          <p:txBody>
            <a:bodyPr lIns="54022" tIns="54022" rIns="54022" bIns="54022" rtlCol="0" anchor="ctr"/>
            <a:lstStyle/>
            <a:p>
              <a:pPr algn="ctr">
                <a:lnSpc>
                  <a:spcPts val="2445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474746" y="3153106"/>
            <a:ext cx="13905286" cy="5344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63955" lvl="1" indent="-582295" algn="l">
              <a:lnSpc>
                <a:spcPts val="7115"/>
              </a:lnSpc>
              <a:buFont typeface="Arial" panose="020B0604020202020204"/>
              <a:buChar char="•"/>
            </a:pPr>
            <a:r>
              <a:rPr lang="en-US" sz="5390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rPr>
              <a:t>Add file preview</a:t>
            </a:r>
            <a:endParaRPr lang="en-US" sz="5390">
              <a:solidFill>
                <a:srgbClr val="FFFFFF"/>
              </a:solidFill>
              <a:latin typeface="ABeeZee" panose="02000000000000000000"/>
              <a:ea typeface="ABeeZee" panose="02000000000000000000"/>
              <a:cs typeface="ABeeZee" panose="02000000000000000000"/>
              <a:sym typeface="ABeeZee" panose="02000000000000000000"/>
            </a:endParaRPr>
          </a:p>
          <a:p>
            <a:pPr marL="1163955" lvl="1" indent="-582295" algn="l">
              <a:lnSpc>
                <a:spcPts val="7115"/>
              </a:lnSpc>
              <a:buFont typeface="Arial" panose="020B0604020202020204"/>
              <a:buChar char="•"/>
            </a:pPr>
            <a:r>
              <a:rPr lang="en-US" sz="5390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rPr>
              <a:t>Integrate PDF/Docx content summaries</a:t>
            </a:r>
            <a:endParaRPr lang="en-US" sz="5390">
              <a:solidFill>
                <a:srgbClr val="FFFFFF"/>
              </a:solidFill>
              <a:latin typeface="ABeeZee" panose="02000000000000000000"/>
              <a:ea typeface="ABeeZee" panose="02000000000000000000"/>
              <a:cs typeface="ABeeZee" panose="02000000000000000000"/>
              <a:sym typeface="ABeeZee" panose="02000000000000000000"/>
            </a:endParaRPr>
          </a:p>
          <a:p>
            <a:pPr marL="1163955" lvl="1" indent="-582295" algn="l">
              <a:lnSpc>
                <a:spcPts val="7115"/>
              </a:lnSpc>
              <a:buFont typeface="Arial" panose="020B0604020202020204"/>
              <a:buChar char="•"/>
            </a:pPr>
            <a:r>
              <a:rPr lang="en-US" sz="5390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rPr>
              <a:t>Generate charts/graphs for file stats</a:t>
            </a:r>
            <a:endParaRPr lang="en-US" sz="5390">
              <a:solidFill>
                <a:srgbClr val="FFFFFF"/>
              </a:solidFill>
              <a:latin typeface="ABeeZee" panose="02000000000000000000"/>
              <a:ea typeface="ABeeZee" panose="02000000000000000000"/>
              <a:cs typeface="ABeeZee" panose="02000000000000000000"/>
              <a:sym typeface="ABeeZee" panose="02000000000000000000"/>
            </a:endParaRPr>
          </a:p>
          <a:p>
            <a:pPr marL="1163955" lvl="1" indent="-582295" algn="l">
              <a:lnSpc>
                <a:spcPts val="7115"/>
              </a:lnSpc>
              <a:buFont typeface="Arial" panose="020B0604020202020204"/>
              <a:buChar char="•"/>
            </a:pPr>
            <a:r>
              <a:rPr lang="en-US" sz="5390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rPr>
              <a:t>Convert to cross-platform app with Electron or PyInstaller</a:t>
            </a:r>
            <a:endParaRPr lang="en-US" sz="5390">
              <a:solidFill>
                <a:srgbClr val="FFFFFF"/>
              </a:solidFill>
              <a:latin typeface="ABeeZee" panose="02000000000000000000"/>
              <a:ea typeface="ABeeZee" panose="02000000000000000000"/>
              <a:cs typeface="ABeeZee" panose="02000000000000000000"/>
              <a:sym typeface="ABeeZee" panose="02000000000000000000"/>
            </a:endParaRPr>
          </a:p>
          <a:p>
            <a:pPr algn="l">
              <a:lnSpc>
                <a:spcPts val="7115"/>
              </a:lnSpc>
            </a:pPr>
          </a:p>
        </p:txBody>
      </p:sp>
      <p:sp>
        <p:nvSpPr>
          <p:cNvPr id="9" name="TextBox 9"/>
          <p:cNvSpPr txBox="1"/>
          <p:nvPr/>
        </p:nvSpPr>
        <p:spPr>
          <a:xfrm>
            <a:off x="4596412" y="1096359"/>
            <a:ext cx="9095177" cy="8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35"/>
              </a:lnSpc>
            </a:pPr>
            <a:r>
              <a:rPr lang="en-US" sz="5655" b="1">
                <a:solidFill>
                  <a:srgbClr val="4792FF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Future Enhancements</a:t>
            </a:r>
            <a:endParaRPr lang="en-US" sz="5655" b="1">
              <a:solidFill>
                <a:srgbClr val="4792FF"/>
              </a:solidFill>
              <a:latin typeface="Museo Moderno Medium"/>
              <a:ea typeface="Museo Moderno Medium"/>
              <a:cs typeface="Museo Moderno Medium"/>
              <a:sym typeface="Museo Moderno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93467" y="1111742"/>
            <a:ext cx="11701066" cy="1796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25"/>
              </a:lnSpc>
            </a:pPr>
            <a:r>
              <a:rPr lang="en-US" sz="10515" b="1">
                <a:solidFill>
                  <a:srgbClr val="0B0C23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Conclusion:</a:t>
            </a:r>
            <a:endParaRPr lang="en-US" sz="10515" b="1">
              <a:solidFill>
                <a:srgbClr val="0B0C23"/>
              </a:solidFill>
              <a:latin typeface="Museo Moderno Medium"/>
              <a:ea typeface="Museo Moderno Medium"/>
              <a:cs typeface="Museo Moderno Medium"/>
              <a:sym typeface="Museo Moderno Medium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2333468" y="4195512"/>
            <a:ext cx="13621064" cy="4002469"/>
            <a:chOff x="0" y="0"/>
            <a:chExt cx="3587441" cy="105414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87441" cy="1054148"/>
            </a:xfrm>
            <a:custGeom>
              <a:avLst/>
              <a:gdLst/>
              <a:ahLst/>
              <a:cxnLst/>
              <a:rect l="l" t="t" r="r" b="b"/>
              <a:pathLst>
                <a:path w="3587441" h="1054148">
                  <a:moveTo>
                    <a:pt x="37513" y="0"/>
                  </a:moveTo>
                  <a:lnTo>
                    <a:pt x="3549928" y="0"/>
                  </a:lnTo>
                  <a:cubicBezTo>
                    <a:pt x="3559877" y="0"/>
                    <a:pt x="3569419" y="3952"/>
                    <a:pt x="3576453" y="10987"/>
                  </a:cubicBezTo>
                  <a:cubicBezTo>
                    <a:pt x="3583489" y="18022"/>
                    <a:pt x="3587441" y="27564"/>
                    <a:pt x="3587441" y="37513"/>
                  </a:cubicBezTo>
                  <a:lnTo>
                    <a:pt x="3587441" y="1016635"/>
                  </a:lnTo>
                  <a:cubicBezTo>
                    <a:pt x="3587441" y="1026584"/>
                    <a:pt x="3583489" y="1036126"/>
                    <a:pt x="3576453" y="1043161"/>
                  </a:cubicBezTo>
                  <a:cubicBezTo>
                    <a:pt x="3569419" y="1050196"/>
                    <a:pt x="3559877" y="1054148"/>
                    <a:pt x="3549928" y="1054148"/>
                  </a:cubicBezTo>
                  <a:lnTo>
                    <a:pt x="37513" y="1054148"/>
                  </a:lnTo>
                  <a:cubicBezTo>
                    <a:pt x="27564" y="1054148"/>
                    <a:pt x="18022" y="1050196"/>
                    <a:pt x="10987" y="1043161"/>
                  </a:cubicBezTo>
                  <a:cubicBezTo>
                    <a:pt x="3952" y="1036126"/>
                    <a:pt x="0" y="1026584"/>
                    <a:pt x="0" y="1016635"/>
                  </a:cubicBezTo>
                  <a:lnTo>
                    <a:pt x="0" y="37513"/>
                  </a:lnTo>
                  <a:cubicBezTo>
                    <a:pt x="0" y="27564"/>
                    <a:pt x="3952" y="18022"/>
                    <a:pt x="10987" y="10987"/>
                  </a:cubicBezTo>
                  <a:cubicBezTo>
                    <a:pt x="18022" y="3952"/>
                    <a:pt x="27564" y="0"/>
                    <a:pt x="37513" y="0"/>
                  </a:cubicBezTo>
                  <a:close/>
                </a:path>
              </a:pathLst>
            </a:custGeom>
            <a:solidFill>
              <a:srgbClr val="394B6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3587441" cy="1082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5"/>
                </a:lnSpc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844813" y="4504681"/>
            <a:ext cx="11701066" cy="298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9295" lvl="1" indent="-354965" algn="l">
              <a:lnSpc>
                <a:spcPts val="3945"/>
              </a:lnSpc>
              <a:buFont typeface="Arial" panose="020B0604020202020204"/>
              <a:buChar char="•"/>
            </a:pPr>
            <a:r>
              <a:rPr lang="en-US" sz="3285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rPr>
              <a:t>Successfully created a working tool that:</a:t>
            </a:r>
            <a:endParaRPr lang="en-US" sz="3285">
              <a:solidFill>
                <a:srgbClr val="FFFFFF"/>
              </a:solidFill>
              <a:latin typeface="ABeeZee" panose="02000000000000000000"/>
              <a:ea typeface="ABeeZee" panose="02000000000000000000"/>
              <a:cs typeface="ABeeZee" panose="02000000000000000000"/>
              <a:sym typeface="ABeeZee" panose="02000000000000000000"/>
            </a:endParaRPr>
          </a:p>
          <a:p>
            <a:pPr marL="709295" lvl="1" indent="-354965" algn="l">
              <a:lnSpc>
                <a:spcPts val="3945"/>
              </a:lnSpc>
              <a:buFont typeface="Arial" panose="020B0604020202020204"/>
              <a:buChar char="•"/>
            </a:pPr>
            <a:r>
              <a:rPr lang="en-US" sz="3285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rPr>
              <a:t>Saves time</a:t>
            </a:r>
            <a:endParaRPr lang="en-US" sz="3285">
              <a:solidFill>
                <a:srgbClr val="FFFFFF"/>
              </a:solidFill>
              <a:latin typeface="ABeeZee" panose="02000000000000000000"/>
              <a:ea typeface="ABeeZee" panose="02000000000000000000"/>
              <a:cs typeface="ABeeZee" panose="02000000000000000000"/>
              <a:sym typeface="ABeeZee" panose="02000000000000000000"/>
            </a:endParaRPr>
          </a:p>
          <a:p>
            <a:pPr marL="709295" lvl="1" indent="-354965" algn="l">
              <a:lnSpc>
                <a:spcPts val="3945"/>
              </a:lnSpc>
              <a:buFont typeface="Arial" panose="020B0604020202020204"/>
              <a:buChar char="•"/>
            </a:pPr>
            <a:r>
              <a:rPr lang="en-US" sz="3285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rPr>
              <a:t>Provides insights</a:t>
            </a:r>
            <a:endParaRPr lang="en-US" sz="3285">
              <a:solidFill>
                <a:srgbClr val="FFFFFF"/>
              </a:solidFill>
              <a:latin typeface="ABeeZee" panose="02000000000000000000"/>
              <a:ea typeface="ABeeZee" panose="02000000000000000000"/>
              <a:cs typeface="ABeeZee" panose="02000000000000000000"/>
              <a:sym typeface="ABeeZee" panose="02000000000000000000"/>
            </a:endParaRPr>
          </a:p>
          <a:p>
            <a:pPr marL="709295" lvl="1" indent="-354965" algn="l">
              <a:lnSpc>
                <a:spcPts val="3945"/>
              </a:lnSpc>
              <a:buFont typeface="Arial" panose="020B0604020202020204"/>
              <a:buChar char="•"/>
            </a:pPr>
            <a:r>
              <a:rPr lang="en-US" sz="3285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rPr>
              <a:t>Simplifies folder analysis</a:t>
            </a:r>
            <a:endParaRPr lang="en-US" sz="3285">
              <a:solidFill>
                <a:srgbClr val="FFFFFF"/>
              </a:solidFill>
              <a:latin typeface="ABeeZee" panose="02000000000000000000"/>
              <a:ea typeface="ABeeZee" panose="02000000000000000000"/>
              <a:cs typeface="ABeeZee" panose="02000000000000000000"/>
              <a:sym typeface="ABeeZee" panose="02000000000000000000"/>
            </a:endParaRPr>
          </a:p>
          <a:p>
            <a:pPr marL="709295" lvl="1" indent="-354965" algn="l">
              <a:lnSpc>
                <a:spcPts val="3945"/>
              </a:lnSpc>
              <a:buFont typeface="Arial" panose="020B0604020202020204"/>
              <a:buChar char="•"/>
            </a:pPr>
            <a:r>
              <a:rPr lang="en-US" sz="3285">
                <a:solidFill>
                  <a:srgbClr val="FFFFFF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rPr>
              <a:t>Demonstrates real-world utility of Python scripting</a:t>
            </a:r>
            <a:endParaRPr lang="en-US" sz="3285">
              <a:solidFill>
                <a:srgbClr val="FFFFFF"/>
              </a:solidFill>
              <a:latin typeface="ABeeZee" panose="02000000000000000000"/>
              <a:ea typeface="ABeeZee" panose="02000000000000000000"/>
              <a:cs typeface="ABeeZee" panose="02000000000000000000"/>
              <a:sym typeface="ABeeZee" panose="02000000000000000000"/>
            </a:endParaRPr>
          </a:p>
          <a:p>
            <a:pPr algn="l">
              <a:lnSpc>
                <a:spcPts val="3945"/>
              </a:lnSpc>
            </a:pPr>
          </a:p>
        </p:txBody>
      </p:sp>
      <p:sp>
        <p:nvSpPr>
          <p:cNvPr id="7" name="Freeform 7"/>
          <p:cNvSpPr/>
          <p:nvPr/>
        </p:nvSpPr>
        <p:spPr>
          <a:xfrm>
            <a:off x="-2977918" y="-1100388"/>
            <a:ext cx="5452664" cy="5295900"/>
          </a:xfrm>
          <a:custGeom>
            <a:avLst/>
            <a:gdLst/>
            <a:ahLst/>
            <a:cxnLst/>
            <a:rect l="l" t="t" r="r" b="b"/>
            <a:pathLst>
              <a:path w="5452664" h="5295900">
                <a:moveTo>
                  <a:pt x="0" y="0"/>
                </a:moveTo>
                <a:lnTo>
                  <a:pt x="5452664" y="0"/>
                </a:lnTo>
                <a:lnTo>
                  <a:pt x="5452664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901169" y="5623800"/>
            <a:ext cx="5452664" cy="5295900"/>
          </a:xfrm>
          <a:custGeom>
            <a:avLst/>
            <a:gdLst/>
            <a:ahLst/>
            <a:cxnLst/>
            <a:rect l="l" t="t" r="r" b="b"/>
            <a:pathLst>
              <a:path w="5452664" h="5295900">
                <a:moveTo>
                  <a:pt x="0" y="0"/>
                </a:moveTo>
                <a:lnTo>
                  <a:pt x="5452664" y="0"/>
                </a:lnTo>
                <a:lnTo>
                  <a:pt x="5452664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90784" y="2311674"/>
            <a:ext cx="12339420" cy="2211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30"/>
              </a:lnSpc>
            </a:pPr>
            <a:r>
              <a:rPr lang="en-US" sz="12950" b="1">
                <a:solidFill>
                  <a:srgbClr val="0B0C23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THANKYOU</a:t>
            </a:r>
            <a:endParaRPr lang="en-US" sz="12950" b="1">
              <a:solidFill>
                <a:srgbClr val="0B0C23"/>
              </a:solidFill>
              <a:latin typeface="Museo Moderno Medium"/>
              <a:ea typeface="Museo Moderno Medium"/>
              <a:cs typeface="Museo Moderno Medium"/>
              <a:sym typeface="Museo Moderno Medium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-2977918" y="-1100388"/>
            <a:ext cx="5452664" cy="5295900"/>
          </a:xfrm>
          <a:custGeom>
            <a:avLst/>
            <a:gdLst/>
            <a:ahLst/>
            <a:cxnLst/>
            <a:rect l="l" t="t" r="r" b="b"/>
            <a:pathLst>
              <a:path w="5452664" h="5295900">
                <a:moveTo>
                  <a:pt x="0" y="0"/>
                </a:moveTo>
                <a:lnTo>
                  <a:pt x="5452664" y="0"/>
                </a:lnTo>
                <a:lnTo>
                  <a:pt x="5452664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901169" y="5623800"/>
            <a:ext cx="5452664" cy="5295900"/>
          </a:xfrm>
          <a:custGeom>
            <a:avLst/>
            <a:gdLst/>
            <a:ahLst/>
            <a:cxnLst/>
            <a:rect l="l" t="t" r="r" b="b"/>
            <a:pathLst>
              <a:path w="5452664" h="5295900">
                <a:moveTo>
                  <a:pt x="0" y="0"/>
                </a:moveTo>
                <a:lnTo>
                  <a:pt x="5452664" y="0"/>
                </a:lnTo>
                <a:lnTo>
                  <a:pt x="5452664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190784" y="4618318"/>
            <a:ext cx="12339420" cy="2211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30"/>
              </a:lnSpc>
            </a:pPr>
            <a:r>
              <a:rPr lang="en-US" sz="12950" b="1">
                <a:solidFill>
                  <a:srgbClr val="0B0C23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Q/A</a:t>
            </a:r>
            <a:endParaRPr lang="en-US" sz="12950" b="1">
              <a:solidFill>
                <a:srgbClr val="0B0C23"/>
              </a:solidFill>
              <a:latin typeface="Museo Moderno Medium"/>
              <a:ea typeface="Museo Moderno Medium"/>
              <a:cs typeface="Museo Moderno Medium"/>
              <a:sym typeface="Museo Moderno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3389</Words>
  <Application>WPS Presentation</Application>
  <PresentationFormat>On-screen Show (4:3)</PresentationFormat>
  <Paragraphs>160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SimSun</vt:lpstr>
      <vt:lpstr>Wingdings</vt:lpstr>
      <vt:lpstr>Museo Moderno</vt:lpstr>
      <vt:lpstr>ABeeZee</vt:lpstr>
      <vt:lpstr>ABeeZee Bold</vt:lpstr>
      <vt:lpstr>Arial</vt:lpstr>
      <vt:lpstr>Museo Moderno Medium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and White Modern Technology Kynote Presentation</dc:title>
  <dc:creator/>
  <cp:lastModifiedBy>fahad</cp:lastModifiedBy>
  <cp:revision>3</cp:revision>
  <dcterms:created xsi:type="dcterms:W3CDTF">2006-08-16T00:00:00Z</dcterms:created>
  <dcterms:modified xsi:type="dcterms:W3CDTF">2025-09-23T17:43:55Z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85615894B68848E7810C1FC1C01C8616_13</vt:lpwstr>
  </property>
  <property fmtid="{D5CDD505-2E9C-101B-9397-08002B2CF9AE}" pid="3" name="KSOProductBuildVer">
    <vt:lpwstr>2057-12.2.0.22549</vt:lpwstr>
  </property>
</Properties>
</file>